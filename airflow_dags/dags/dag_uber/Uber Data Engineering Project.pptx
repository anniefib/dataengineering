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6" r:id="rId3"/>
    <p:sldId id="2567" r:id="rId4"/>
    <p:sldId id="2568" r:id="rId5"/>
    <p:sldId id="2569" r:id="rId6"/>
    <p:sldId id="2571" r:id="rId7"/>
    <p:sldId id="2572" r:id="rId8"/>
    <p:sldId id="2573" r:id="rId9"/>
    <p:sldId id="2574" r:id="rId10"/>
    <p:sldId id="2570" r:id="rId11"/>
    <p:sldId id="2580" r:id="rId12"/>
    <p:sldId id="2578" r:id="rId13"/>
    <p:sldId id="257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ber Data Engineering Project: Designing and Implementing an ETL Pipeline" id="{425B2F10-F7A5-4EE5-8C4C-0F8567F700AF}">
          <p14:sldIdLst>
            <p14:sldId id="2561"/>
          </p14:sldIdLst>
        </p14:section>
        <p14:section name="Project Overview and Objectives" id="{867F2996-6FFD-474F-8FC2-EC75F63682C9}">
          <p14:sldIdLst>
            <p14:sldId id="2566"/>
          </p14:sldIdLst>
        </p14:section>
        <p14:section name="ETL Pipeline Architecture and Design" id="{A4AE0FF1-253F-4457-BC0F-B8782588D693}">
          <p14:sldIdLst>
            <p14:sldId id="2567"/>
            <p14:sldId id="2568"/>
            <p14:sldId id="2569"/>
          </p14:sldIdLst>
        </p14:section>
        <p14:section name="Implementation Details and Challenges" id="{9BD4E942-F6BF-468B-AE4F-75A7F19FBFE8}">
          <p14:sldIdLst>
            <p14:sldId id="2571"/>
            <p14:sldId id="2572"/>
            <p14:sldId id="2573"/>
            <p14:sldId id="2574"/>
            <p14:sldId id="2570"/>
            <p14:sldId id="2580"/>
            <p14:sldId id="2578"/>
          </p14:sldIdLst>
        </p14:section>
        <p14:section name="Conclusion" id="{AB0840C1-264D-4FE8-973C-3FF64EB9C13C}">
          <p14:sldIdLst>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2" autoAdjust="0"/>
    <p:restoredTop sz="86767" autoAdjust="0"/>
  </p:normalViewPr>
  <p:slideViewPr>
    <p:cSldViewPr snapToGrid="0">
      <p:cViewPr>
        <p:scale>
          <a:sx n="75" d="100"/>
          <a:sy n="75" d="100"/>
        </p:scale>
        <p:origin x="318" y="29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BE4071-2A26-4469-9538-1A63F3866C74}"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A19469A7-320C-49BA-8779-FEBE5E08B51F}">
      <dgm:prSet/>
      <dgm:spPr/>
      <dgm:t>
        <a:bodyPr/>
        <a:lstStyle/>
        <a:p>
          <a:pPr>
            <a:lnSpc>
              <a:spcPct val="100000"/>
            </a:lnSpc>
            <a:defRPr b="1"/>
          </a:pPr>
          <a:r>
            <a:rPr lang="en-US"/>
            <a:t>Scalable Data Infrastructure</a:t>
          </a:r>
        </a:p>
      </dgm:t>
    </dgm:pt>
    <dgm:pt modelId="{A226D907-8FEB-4626-808F-91BFFEEDFC15}" type="parTrans" cxnId="{A5C6CE84-5A93-4936-B17B-BBD6DFF4BFE2}">
      <dgm:prSet/>
      <dgm:spPr/>
      <dgm:t>
        <a:bodyPr/>
        <a:lstStyle/>
        <a:p>
          <a:endParaRPr lang="en-US"/>
        </a:p>
      </dgm:t>
    </dgm:pt>
    <dgm:pt modelId="{A18CF89D-FE1C-46A4-9D91-95E3C0292057}" type="sibTrans" cxnId="{A5C6CE84-5A93-4936-B17B-BBD6DFF4BFE2}">
      <dgm:prSet/>
      <dgm:spPr/>
      <dgm:t>
        <a:bodyPr/>
        <a:lstStyle/>
        <a:p>
          <a:pPr>
            <a:lnSpc>
              <a:spcPct val="100000"/>
            </a:lnSpc>
            <a:defRPr b="1"/>
          </a:pPr>
          <a:endParaRPr lang="en-US"/>
        </a:p>
      </dgm:t>
    </dgm:pt>
    <dgm:pt modelId="{47FD11B9-5072-441B-8F8E-D57A4364C872}">
      <dgm:prSet/>
      <dgm:spPr/>
      <dgm:t>
        <a:bodyPr/>
        <a:lstStyle/>
        <a:p>
          <a:pPr>
            <a:lnSpc>
              <a:spcPct val="100000"/>
            </a:lnSpc>
          </a:pPr>
          <a:r>
            <a:rPr lang="en-US"/>
            <a:t>The ETL pipeline is built to handle increasing volumes of data efficiently and reliably.</a:t>
          </a:r>
        </a:p>
      </dgm:t>
    </dgm:pt>
    <dgm:pt modelId="{90C91E83-2CED-44AA-90DA-0B9260A9F028}" type="parTrans" cxnId="{BEA7EE07-2F28-49A5-BAA0-66C86EDB9555}">
      <dgm:prSet/>
      <dgm:spPr/>
      <dgm:t>
        <a:bodyPr/>
        <a:lstStyle/>
        <a:p>
          <a:endParaRPr lang="en-US"/>
        </a:p>
      </dgm:t>
    </dgm:pt>
    <dgm:pt modelId="{33FDD661-6043-4965-8AA5-6A69C9B6AD9E}" type="sibTrans" cxnId="{BEA7EE07-2F28-49A5-BAA0-66C86EDB9555}">
      <dgm:prSet/>
      <dgm:spPr/>
      <dgm:t>
        <a:bodyPr/>
        <a:lstStyle/>
        <a:p>
          <a:endParaRPr lang="en-US"/>
        </a:p>
      </dgm:t>
    </dgm:pt>
    <dgm:pt modelId="{0A943848-6CB9-4238-BAAE-D6CF4E73128E}">
      <dgm:prSet/>
      <dgm:spPr/>
      <dgm:t>
        <a:bodyPr/>
        <a:lstStyle/>
        <a:p>
          <a:pPr>
            <a:lnSpc>
              <a:spcPct val="100000"/>
            </a:lnSpc>
            <a:defRPr b="1"/>
          </a:pPr>
          <a:r>
            <a:rPr lang="en-US"/>
            <a:t>Addressing Data Challenges</a:t>
          </a:r>
        </a:p>
      </dgm:t>
    </dgm:pt>
    <dgm:pt modelId="{B69383C1-37EE-486E-AF38-CCA68E8F9AAE}" type="parTrans" cxnId="{2A6FABD1-9C62-49F2-9986-C5768C977768}">
      <dgm:prSet/>
      <dgm:spPr/>
      <dgm:t>
        <a:bodyPr/>
        <a:lstStyle/>
        <a:p>
          <a:endParaRPr lang="en-US"/>
        </a:p>
      </dgm:t>
    </dgm:pt>
    <dgm:pt modelId="{9D15C96B-215F-4232-BDE0-5ABF1E43F479}" type="sibTrans" cxnId="{2A6FABD1-9C62-49F2-9986-C5768C977768}">
      <dgm:prSet/>
      <dgm:spPr/>
      <dgm:t>
        <a:bodyPr/>
        <a:lstStyle/>
        <a:p>
          <a:pPr>
            <a:lnSpc>
              <a:spcPct val="100000"/>
            </a:lnSpc>
            <a:defRPr b="1"/>
          </a:pPr>
          <a:endParaRPr lang="en-US"/>
        </a:p>
      </dgm:t>
    </dgm:pt>
    <dgm:pt modelId="{2C9A8806-38F1-4428-BE39-786571349DD0}">
      <dgm:prSet/>
      <dgm:spPr/>
      <dgm:t>
        <a:bodyPr/>
        <a:lstStyle/>
        <a:p>
          <a:pPr>
            <a:lnSpc>
              <a:spcPct val="100000"/>
            </a:lnSpc>
          </a:pPr>
          <a:r>
            <a:rPr lang="en-US"/>
            <a:t>The system design tackles critical challenges to maintain smooth and accurate data flow.</a:t>
          </a:r>
        </a:p>
      </dgm:t>
    </dgm:pt>
    <dgm:pt modelId="{9E4F0094-A4C5-49B6-9FD0-84430C201975}" type="parTrans" cxnId="{E401E6E8-BBE0-412D-9F82-92B56D1458F4}">
      <dgm:prSet/>
      <dgm:spPr/>
      <dgm:t>
        <a:bodyPr/>
        <a:lstStyle/>
        <a:p>
          <a:endParaRPr lang="en-US"/>
        </a:p>
      </dgm:t>
    </dgm:pt>
    <dgm:pt modelId="{8271CA51-BC10-4E8F-BD1E-FDCCE30CD0B6}" type="sibTrans" cxnId="{E401E6E8-BBE0-412D-9F82-92B56D1458F4}">
      <dgm:prSet/>
      <dgm:spPr/>
      <dgm:t>
        <a:bodyPr/>
        <a:lstStyle/>
        <a:p>
          <a:endParaRPr lang="en-US"/>
        </a:p>
      </dgm:t>
    </dgm:pt>
    <dgm:pt modelId="{22DECC4C-D47E-4078-BCC6-84C8CC460A14}">
      <dgm:prSet/>
      <dgm:spPr/>
      <dgm:t>
        <a:bodyPr/>
        <a:lstStyle/>
        <a:p>
          <a:pPr>
            <a:lnSpc>
              <a:spcPct val="100000"/>
            </a:lnSpc>
            <a:defRPr b="1"/>
          </a:pPr>
          <a:r>
            <a:rPr lang="en-US"/>
            <a:t>Supporting Business Intelligence</a:t>
          </a:r>
        </a:p>
      </dgm:t>
    </dgm:pt>
    <dgm:pt modelId="{EB085E12-70B0-43F3-B629-D595CA1D7AED}" type="parTrans" cxnId="{641F0C54-21A6-4DEE-A71E-4F31368F7B66}">
      <dgm:prSet/>
      <dgm:spPr/>
      <dgm:t>
        <a:bodyPr/>
        <a:lstStyle/>
        <a:p>
          <a:endParaRPr lang="en-US"/>
        </a:p>
      </dgm:t>
    </dgm:pt>
    <dgm:pt modelId="{028C6716-44C5-478D-96E3-E1AF31A802A1}" type="sibTrans" cxnId="{641F0C54-21A6-4DEE-A71E-4F31368F7B66}">
      <dgm:prSet/>
      <dgm:spPr/>
      <dgm:t>
        <a:bodyPr/>
        <a:lstStyle/>
        <a:p>
          <a:endParaRPr lang="en-US"/>
        </a:p>
      </dgm:t>
    </dgm:pt>
    <dgm:pt modelId="{97034132-1E07-4698-AAF6-2EEFFDDA229D}">
      <dgm:prSet/>
      <dgm:spPr/>
      <dgm:t>
        <a:bodyPr/>
        <a:lstStyle/>
        <a:p>
          <a:pPr>
            <a:lnSpc>
              <a:spcPct val="100000"/>
            </a:lnSpc>
          </a:pPr>
          <a:r>
            <a:rPr lang="en-US"/>
            <a:t>Reliable ETL processes enable effective business intelligence and operational decision-making.</a:t>
          </a:r>
        </a:p>
      </dgm:t>
    </dgm:pt>
    <dgm:pt modelId="{2F1F62A0-C93E-4876-8A24-647AA363497D}" type="parTrans" cxnId="{4AD656FD-14BC-4912-A80E-19B965309BC5}">
      <dgm:prSet/>
      <dgm:spPr/>
      <dgm:t>
        <a:bodyPr/>
        <a:lstStyle/>
        <a:p>
          <a:endParaRPr lang="en-US"/>
        </a:p>
      </dgm:t>
    </dgm:pt>
    <dgm:pt modelId="{B1444F38-EBE5-4712-AA68-540FFE447DB2}" type="sibTrans" cxnId="{4AD656FD-14BC-4912-A80E-19B965309BC5}">
      <dgm:prSet/>
      <dgm:spPr/>
      <dgm:t>
        <a:bodyPr/>
        <a:lstStyle/>
        <a:p>
          <a:endParaRPr lang="en-US"/>
        </a:p>
      </dgm:t>
    </dgm:pt>
    <dgm:pt modelId="{BD22454B-F3FE-4365-9C8F-F779C52358D6}" type="pres">
      <dgm:prSet presAssocID="{ECBE4071-2A26-4469-9538-1A63F3866C74}" presName="Name0" presStyleCnt="0">
        <dgm:presLayoutVars>
          <dgm:dir/>
          <dgm:resizeHandles val="exact"/>
        </dgm:presLayoutVars>
      </dgm:prSet>
      <dgm:spPr/>
    </dgm:pt>
    <dgm:pt modelId="{D44A18D9-28BA-4BA6-8FBF-415813EE40E1}" type="pres">
      <dgm:prSet presAssocID="{A19469A7-320C-49BA-8779-FEBE5E08B51F}" presName="compNode" presStyleCnt="0"/>
      <dgm:spPr/>
    </dgm:pt>
    <dgm:pt modelId="{D302BA5C-6D0B-4517-93E5-DA0272FE747B}" type="pres">
      <dgm:prSet presAssocID="{A19469A7-320C-49BA-8779-FEBE5E08B51F}" presName="pictRect" presStyleLbl="revTx" presStyleIdx="0" presStyleCnt="6">
        <dgm:presLayoutVars>
          <dgm:chMax val="0"/>
          <dgm:bulletEnabled/>
        </dgm:presLayoutVars>
      </dgm:prSet>
      <dgm:spPr/>
    </dgm:pt>
    <dgm:pt modelId="{C1643C27-56A3-4227-8A90-322A561B2623}" type="pres">
      <dgm:prSet presAssocID="{A19469A7-320C-49BA-8779-FEBE5E08B51F}" presName="textRect" presStyleLbl="revTx" presStyleIdx="1" presStyleCnt="6">
        <dgm:presLayoutVars>
          <dgm:bulletEnabled/>
        </dgm:presLayoutVars>
      </dgm:prSet>
      <dgm:spPr/>
    </dgm:pt>
    <dgm:pt modelId="{C0D39692-FA80-42BC-88E3-E15B457B7462}" type="pres">
      <dgm:prSet presAssocID="{A18CF89D-FE1C-46A4-9D91-95E3C0292057}" presName="sibTrans" presStyleLbl="sibTrans2D1" presStyleIdx="0" presStyleCnt="0"/>
      <dgm:spPr/>
    </dgm:pt>
    <dgm:pt modelId="{F5AD5E87-AC08-4AD6-AA03-8D905C4EC58F}" type="pres">
      <dgm:prSet presAssocID="{0A943848-6CB9-4238-BAAE-D6CF4E73128E}" presName="compNode" presStyleCnt="0"/>
      <dgm:spPr/>
    </dgm:pt>
    <dgm:pt modelId="{CF00A6B8-BEA6-484D-AD53-DABA006F0783}" type="pres">
      <dgm:prSet presAssocID="{0A943848-6CB9-4238-BAAE-D6CF4E73128E}" presName="pictRect" presStyleLbl="revTx" presStyleIdx="2" presStyleCnt="6">
        <dgm:presLayoutVars>
          <dgm:chMax val="0"/>
          <dgm:bulletEnabled/>
        </dgm:presLayoutVars>
      </dgm:prSet>
      <dgm:spPr/>
    </dgm:pt>
    <dgm:pt modelId="{DAE2A4AF-A879-4FE5-89C7-B7BF90C0E007}" type="pres">
      <dgm:prSet presAssocID="{0A943848-6CB9-4238-BAAE-D6CF4E73128E}" presName="textRect" presStyleLbl="revTx" presStyleIdx="3" presStyleCnt="6">
        <dgm:presLayoutVars>
          <dgm:bulletEnabled/>
        </dgm:presLayoutVars>
      </dgm:prSet>
      <dgm:spPr/>
    </dgm:pt>
    <dgm:pt modelId="{1B560408-BE35-4903-B954-C108EF18FFB1}" type="pres">
      <dgm:prSet presAssocID="{9D15C96B-215F-4232-BDE0-5ABF1E43F479}" presName="sibTrans" presStyleLbl="sibTrans2D1" presStyleIdx="0" presStyleCnt="0"/>
      <dgm:spPr/>
    </dgm:pt>
    <dgm:pt modelId="{8047D132-1070-4A09-BCAA-9FACD5777323}" type="pres">
      <dgm:prSet presAssocID="{22DECC4C-D47E-4078-BCC6-84C8CC460A14}" presName="compNode" presStyleCnt="0"/>
      <dgm:spPr/>
    </dgm:pt>
    <dgm:pt modelId="{454A1E0A-D5A7-424B-BA99-0FDEACA97715}" type="pres">
      <dgm:prSet presAssocID="{22DECC4C-D47E-4078-BCC6-84C8CC460A14}" presName="pictRect" presStyleLbl="revTx" presStyleIdx="4" presStyleCnt="6">
        <dgm:presLayoutVars>
          <dgm:chMax val="0"/>
          <dgm:bulletEnabled/>
        </dgm:presLayoutVars>
      </dgm:prSet>
      <dgm:spPr/>
    </dgm:pt>
    <dgm:pt modelId="{33A7BADA-69E7-4286-B04E-91392C6C3F29}" type="pres">
      <dgm:prSet presAssocID="{22DECC4C-D47E-4078-BCC6-84C8CC460A14}" presName="textRect" presStyleLbl="revTx" presStyleIdx="5" presStyleCnt="6">
        <dgm:presLayoutVars>
          <dgm:bulletEnabled/>
        </dgm:presLayoutVars>
      </dgm:prSet>
      <dgm:spPr/>
    </dgm:pt>
  </dgm:ptLst>
  <dgm:cxnLst>
    <dgm:cxn modelId="{BEA7EE07-2F28-49A5-BAA0-66C86EDB9555}" srcId="{A19469A7-320C-49BA-8779-FEBE5E08B51F}" destId="{47FD11B9-5072-441B-8F8E-D57A4364C872}" srcOrd="0" destOrd="0" parTransId="{90C91E83-2CED-44AA-90DA-0B9260A9F028}" sibTransId="{33FDD661-6043-4965-8AA5-6A69C9B6AD9E}"/>
    <dgm:cxn modelId="{F3FE590C-A056-4F0A-8E80-0B9D205639DF}" type="presOf" srcId="{A18CF89D-FE1C-46A4-9D91-95E3C0292057}" destId="{C0D39692-FA80-42BC-88E3-E15B457B7462}" srcOrd="0" destOrd="0" presId="urn:microsoft.com/office/officeart/2024/3/layout/hArchList1"/>
    <dgm:cxn modelId="{ACAFAB49-EBEA-4141-BDE8-8E74BF18090B}" type="presOf" srcId="{2C9A8806-38F1-4428-BE39-786571349DD0}" destId="{DAE2A4AF-A879-4FE5-89C7-B7BF90C0E007}" srcOrd="0" destOrd="0" presId="urn:microsoft.com/office/officeart/2024/3/layout/hArchList1"/>
    <dgm:cxn modelId="{A1C63070-BFE8-4D1B-B25C-20F0B7EB4CE0}" type="presOf" srcId="{A19469A7-320C-49BA-8779-FEBE5E08B51F}" destId="{D302BA5C-6D0B-4517-93E5-DA0272FE747B}" srcOrd="0" destOrd="0" presId="urn:microsoft.com/office/officeart/2024/3/layout/hArchList1"/>
    <dgm:cxn modelId="{641F0C54-21A6-4DEE-A71E-4F31368F7B66}" srcId="{ECBE4071-2A26-4469-9538-1A63F3866C74}" destId="{22DECC4C-D47E-4078-BCC6-84C8CC460A14}" srcOrd="2" destOrd="0" parTransId="{EB085E12-70B0-43F3-B629-D595CA1D7AED}" sibTransId="{028C6716-44C5-478D-96E3-E1AF31A802A1}"/>
    <dgm:cxn modelId="{44F2C377-15D8-40C8-8206-5BA5E7A0986F}" type="presOf" srcId="{22DECC4C-D47E-4078-BCC6-84C8CC460A14}" destId="{454A1E0A-D5A7-424B-BA99-0FDEACA97715}" srcOrd="0" destOrd="0" presId="urn:microsoft.com/office/officeart/2024/3/layout/hArchList1"/>
    <dgm:cxn modelId="{A5C6CE84-5A93-4936-B17B-BBD6DFF4BFE2}" srcId="{ECBE4071-2A26-4469-9538-1A63F3866C74}" destId="{A19469A7-320C-49BA-8779-FEBE5E08B51F}" srcOrd="0" destOrd="0" parTransId="{A226D907-8FEB-4626-808F-91BFFEEDFC15}" sibTransId="{A18CF89D-FE1C-46A4-9D91-95E3C0292057}"/>
    <dgm:cxn modelId="{6C4FF888-2623-47BC-BD11-50AC50FEA82B}" type="presOf" srcId="{ECBE4071-2A26-4469-9538-1A63F3866C74}" destId="{BD22454B-F3FE-4365-9C8F-F779C52358D6}" srcOrd="0" destOrd="0" presId="urn:microsoft.com/office/officeart/2024/3/layout/hArchList1"/>
    <dgm:cxn modelId="{0A26AE91-D486-47AC-8EF6-F2712759240D}" type="presOf" srcId="{9D15C96B-215F-4232-BDE0-5ABF1E43F479}" destId="{1B560408-BE35-4903-B954-C108EF18FFB1}" srcOrd="0" destOrd="0" presId="urn:microsoft.com/office/officeart/2024/3/layout/hArchList1"/>
    <dgm:cxn modelId="{712713C5-2A2B-4705-9B3B-42B9973BD962}" type="presOf" srcId="{97034132-1E07-4698-AAF6-2EEFFDDA229D}" destId="{33A7BADA-69E7-4286-B04E-91392C6C3F29}" srcOrd="0" destOrd="0" presId="urn:microsoft.com/office/officeart/2024/3/layout/hArchList1"/>
    <dgm:cxn modelId="{157A03CB-6E36-4010-AE79-B770A198EE3D}" type="presOf" srcId="{47FD11B9-5072-441B-8F8E-D57A4364C872}" destId="{C1643C27-56A3-4227-8A90-322A561B2623}" srcOrd="0" destOrd="0" presId="urn:microsoft.com/office/officeart/2024/3/layout/hArchList1"/>
    <dgm:cxn modelId="{2A6FABD1-9C62-49F2-9986-C5768C977768}" srcId="{ECBE4071-2A26-4469-9538-1A63F3866C74}" destId="{0A943848-6CB9-4238-BAAE-D6CF4E73128E}" srcOrd="1" destOrd="0" parTransId="{B69383C1-37EE-486E-AF38-CCA68E8F9AAE}" sibTransId="{9D15C96B-215F-4232-BDE0-5ABF1E43F479}"/>
    <dgm:cxn modelId="{766C2EE3-3C74-43DF-8C23-EB6FDA8428EF}" type="presOf" srcId="{0A943848-6CB9-4238-BAAE-D6CF4E73128E}" destId="{CF00A6B8-BEA6-484D-AD53-DABA006F0783}" srcOrd="0" destOrd="0" presId="urn:microsoft.com/office/officeart/2024/3/layout/hArchList1"/>
    <dgm:cxn modelId="{E401E6E8-BBE0-412D-9F82-92B56D1458F4}" srcId="{0A943848-6CB9-4238-BAAE-D6CF4E73128E}" destId="{2C9A8806-38F1-4428-BE39-786571349DD0}" srcOrd="0" destOrd="0" parTransId="{9E4F0094-A4C5-49B6-9FD0-84430C201975}" sibTransId="{8271CA51-BC10-4E8F-BD1E-FDCCE30CD0B6}"/>
    <dgm:cxn modelId="{4AD656FD-14BC-4912-A80E-19B965309BC5}" srcId="{22DECC4C-D47E-4078-BCC6-84C8CC460A14}" destId="{97034132-1E07-4698-AAF6-2EEFFDDA229D}" srcOrd="0" destOrd="0" parTransId="{2F1F62A0-C93E-4876-8A24-647AA363497D}" sibTransId="{B1444F38-EBE5-4712-AA68-540FFE447DB2}"/>
    <dgm:cxn modelId="{4604D91C-9AE0-4E02-BF63-3DD880718CFC}" type="presParOf" srcId="{BD22454B-F3FE-4365-9C8F-F779C52358D6}" destId="{D44A18D9-28BA-4BA6-8FBF-415813EE40E1}" srcOrd="0" destOrd="0" presId="urn:microsoft.com/office/officeart/2024/3/layout/hArchList1"/>
    <dgm:cxn modelId="{796AA756-F9E2-421F-B7B5-839A0C0D396B}" type="presParOf" srcId="{D44A18D9-28BA-4BA6-8FBF-415813EE40E1}" destId="{D302BA5C-6D0B-4517-93E5-DA0272FE747B}" srcOrd="0" destOrd="0" presId="urn:microsoft.com/office/officeart/2024/3/layout/hArchList1"/>
    <dgm:cxn modelId="{95EA532B-C067-494B-934C-32C981D1425A}" type="presParOf" srcId="{D44A18D9-28BA-4BA6-8FBF-415813EE40E1}" destId="{C1643C27-56A3-4227-8A90-322A561B2623}" srcOrd="1" destOrd="0" presId="urn:microsoft.com/office/officeart/2024/3/layout/hArchList1"/>
    <dgm:cxn modelId="{4EB548AF-9201-43C5-A483-2FE42987DF34}" type="presParOf" srcId="{BD22454B-F3FE-4365-9C8F-F779C52358D6}" destId="{C0D39692-FA80-42BC-88E3-E15B457B7462}" srcOrd="1" destOrd="0" presId="urn:microsoft.com/office/officeart/2024/3/layout/hArchList1"/>
    <dgm:cxn modelId="{87E6E14E-125E-440B-9AA1-276EDB0B45ED}" type="presParOf" srcId="{BD22454B-F3FE-4365-9C8F-F779C52358D6}" destId="{F5AD5E87-AC08-4AD6-AA03-8D905C4EC58F}" srcOrd="2" destOrd="0" presId="urn:microsoft.com/office/officeart/2024/3/layout/hArchList1"/>
    <dgm:cxn modelId="{A3598AF5-A1F7-4101-8B3E-70BCB1AFA4B2}" type="presParOf" srcId="{F5AD5E87-AC08-4AD6-AA03-8D905C4EC58F}" destId="{CF00A6B8-BEA6-484D-AD53-DABA006F0783}" srcOrd="0" destOrd="0" presId="urn:microsoft.com/office/officeart/2024/3/layout/hArchList1"/>
    <dgm:cxn modelId="{4411A612-307E-4DD1-9286-48602EB2112D}" type="presParOf" srcId="{F5AD5E87-AC08-4AD6-AA03-8D905C4EC58F}" destId="{DAE2A4AF-A879-4FE5-89C7-B7BF90C0E007}" srcOrd="1" destOrd="0" presId="urn:microsoft.com/office/officeart/2024/3/layout/hArchList1"/>
    <dgm:cxn modelId="{703E732B-3309-4154-B923-EAD59F9C21FA}" type="presParOf" srcId="{BD22454B-F3FE-4365-9C8F-F779C52358D6}" destId="{1B560408-BE35-4903-B954-C108EF18FFB1}" srcOrd="3" destOrd="0" presId="urn:microsoft.com/office/officeart/2024/3/layout/hArchList1"/>
    <dgm:cxn modelId="{538D9A79-2023-468E-8995-F71D2D0DD543}" type="presParOf" srcId="{BD22454B-F3FE-4365-9C8F-F779C52358D6}" destId="{8047D132-1070-4A09-BCAA-9FACD5777323}" srcOrd="4" destOrd="0" presId="urn:microsoft.com/office/officeart/2024/3/layout/hArchList1"/>
    <dgm:cxn modelId="{277ABCFF-DB0E-4DCE-8ACD-34D3A596960B}" type="presParOf" srcId="{8047D132-1070-4A09-BCAA-9FACD5777323}" destId="{454A1E0A-D5A7-424B-BA99-0FDEACA97715}" srcOrd="0" destOrd="0" presId="urn:microsoft.com/office/officeart/2024/3/layout/hArchList1"/>
    <dgm:cxn modelId="{2190BA7B-7DA8-4EC0-9457-538FDFBE58FF}" type="presParOf" srcId="{8047D132-1070-4A09-BCAA-9FACD5777323}" destId="{33A7BADA-69E7-4286-B04E-91392C6C3F29}"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02BA5C-6D0B-4517-93E5-DA0272FE747B}">
      <dsp:nvSpPr>
        <dsp:cNvPr id="0" name=""/>
        <dsp:cNvSpPr/>
      </dsp:nvSpPr>
      <dsp:spPr>
        <a:xfrm>
          <a:off x="0" y="0"/>
          <a:ext cx="3403282" cy="608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Scalable Data Infrastructure</a:t>
          </a:r>
        </a:p>
      </dsp:txBody>
      <dsp:txXfrm>
        <a:off x="0" y="0"/>
        <a:ext cx="3403282" cy="608115"/>
      </dsp:txXfrm>
    </dsp:sp>
    <dsp:sp modelId="{C1643C27-56A3-4227-8A90-322A561B2623}">
      <dsp:nvSpPr>
        <dsp:cNvPr id="0" name=""/>
        <dsp:cNvSpPr/>
      </dsp:nvSpPr>
      <dsp:spPr>
        <a:xfrm>
          <a:off x="0" y="608115"/>
          <a:ext cx="3403282" cy="1887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ETL pipeline is built to handle increasing volumes of data efficiently and reliably.</a:t>
          </a:r>
        </a:p>
      </dsp:txBody>
      <dsp:txXfrm>
        <a:off x="0" y="608115"/>
        <a:ext cx="3403282" cy="1887445"/>
      </dsp:txXfrm>
    </dsp:sp>
    <dsp:sp modelId="{CF00A6B8-BEA6-484D-AD53-DABA006F0783}">
      <dsp:nvSpPr>
        <dsp:cNvPr id="0" name=""/>
        <dsp:cNvSpPr/>
      </dsp:nvSpPr>
      <dsp:spPr>
        <a:xfrm>
          <a:off x="3743610" y="0"/>
          <a:ext cx="3403282" cy="608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Addressing Data Challenges</a:t>
          </a:r>
        </a:p>
      </dsp:txBody>
      <dsp:txXfrm>
        <a:off x="3743610" y="0"/>
        <a:ext cx="3403282" cy="608115"/>
      </dsp:txXfrm>
    </dsp:sp>
    <dsp:sp modelId="{DAE2A4AF-A879-4FE5-89C7-B7BF90C0E007}">
      <dsp:nvSpPr>
        <dsp:cNvPr id="0" name=""/>
        <dsp:cNvSpPr/>
      </dsp:nvSpPr>
      <dsp:spPr>
        <a:xfrm>
          <a:off x="3743610" y="608115"/>
          <a:ext cx="3403282" cy="1887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system design tackles critical challenges to maintain smooth and accurate data flow.</a:t>
          </a:r>
        </a:p>
      </dsp:txBody>
      <dsp:txXfrm>
        <a:off x="3743610" y="608115"/>
        <a:ext cx="3403282" cy="1887445"/>
      </dsp:txXfrm>
    </dsp:sp>
    <dsp:sp modelId="{454A1E0A-D5A7-424B-BA99-0FDEACA97715}">
      <dsp:nvSpPr>
        <dsp:cNvPr id="0" name=""/>
        <dsp:cNvSpPr/>
      </dsp:nvSpPr>
      <dsp:spPr>
        <a:xfrm>
          <a:off x="7487221" y="0"/>
          <a:ext cx="3403282" cy="608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Supporting Business Intelligence</a:t>
          </a:r>
        </a:p>
      </dsp:txBody>
      <dsp:txXfrm>
        <a:off x="7487221" y="0"/>
        <a:ext cx="3403282" cy="608115"/>
      </dsp:txXfrm>
    </dsp:sp>
    <dsp:sp modelId="{33A7BADA-69E7-4286-B04E-91392C6C3F29}">
      <dsp:nvSpPr>
        <dsp:cNvPr id="0" name=""/>
        <dsp:cNvSpPr/>
      </dsp:nvSpPr>
      <dsp:spPr>
        <a:xfrm>
          <a:off x="7487221" y="608115"/>
          <a:ext cx="3403282" cy="1887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Reliable ETL processes enable effective business intelligence and operational decision-making.</a:t>
          </a:r>
        </a:p>
      </dsp:txBody>
      <dsp:txXfrm>
        <a:off x="7487221" y="608115"/>
        <a:ext cx="3403282" cy="1887445"/>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1836F7-2BDF-4B7E-BB16-9D60FFB29CC4}" type="datetimeFigureOut">
              <a:rPr lang="en-GB" smtClean="0"/>
              <a:t>22/08/2025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799676-7821-4A9D-AAE1-94403807AF0D}" type="slidenum">
              <a:rPr lang="en-GB" smtClean="0"/>
              <a:t>‹#›</a:t>
            </a:fld>
            <a:endParaRPr lang="en-GB"/>
          </a:p>
        </p:txBody>
      </p:sp>
    </p:spTree>
    <p:extLst>
      <p:ext uri="{BB962C8B-B14F-4D97-AF65-F5344CB8AC3E}">
        <p14:creationId xmlns:p14="http://schemas.microsoft.com/office/powerpoint/2010/main" val="3782074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5623EA-2615-4712-822E-F719B8149ABC}" type="slidenum">
              <a:rPr lang="en-GB" smtClean="0"/>
              <a:t>1</a:t>
            </a:fld>
            <a:endParaRPr lang="en-GB"/>
          </a:p>
        </p:txBody>
      </p:sp>
    </p:spTree>
    <p:extLst>
      <p:ext uri="{BB962C8B-B14F-4D97-AF65-F5344CB8AC3E}">
        <p14:creationId xmlns:p14="http://schemas.microsoft.com/office/powerpoint/2010/main" val="265696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5623EA-2615-4712-822E-F719B8149ABC}" type="slidenum">
              <a:rPr lang="en-GB" smtClean="0"/>
              <a:t>2</a:t>
            </a:fld>
            <a:endParaRPr lang="en-GB"/>
          </a:p>
        </p:txBody>
      </p:sp>
    </p:spTree>
    <p:extLst>
      <p:ext uri="{BB962C8B-B14F-4D97-AF65-F5344CB8AC3E}">
        <p14:creationId xmlns:p14="http://schemas.microsoft.com/office/powerpoint/2010/main" val="3822461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5623EA-2615-4712-822E-F719B8149ABC}" type="slidenum">
              <a:rPr lang="en-GB" smtClean="0"/>
              <a:t>3</a:t>
            </a:fld>
            <a:endParaRPr lang="en-GB"/>
          </a:p>
        </p:txBody>
      </p:sp>
    </p:spTree>
    <p:extLst>
      <p:ext uri="{BB962C8B-B14F-4D97-AF65-F5344CB8AC3E}">
        <p14:creationId xmlns:p14="http://schemas.microsoft.com/office/powerpoint/2010/main" val="2071466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5623EA-2615-4712-822E-F719B8149ABC}" type="slidenum">
              <a:rPr lang="en-GB" smtClean="0"/>
              <a:t>4</a:t>
            </a:fld>
            <a:endParaRPr lang="en-GB"/>
          </a:p>
        </p:txBody>
      </p:sp>
    </p:spTree>
    <p:extLst>
      <p:ext uri="{BB962C8B-B14F-4D97-AF65-F5344CB8AC3E}">
        <p14:creationId xmlns:p14="http://schemas.microsoft.com/office/powerpoint/2010/main" val="2808287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The architecture includes distributed data storage, scalable compute clusters, and workflow orchestration tools. Technologies leveraged may include Apache Kafka for streaming, Spark for processing, and cloud platforms for storage and scalability.
Image source: Microsoft 365 content library
</a:t>
            </a:r>
          </a:p>
        </p:txBody>
      </p:sp>
      <p:sp>
        <p:nvSpPr>
          <p:cNvPr id="4" name="Slide Number Placeholder 3"/>
          <p:cNvSpPr>
            <a:spLocks noGrp="1"/>
          </p:cNvSpPr>
          <p:nvPr>
            <p:ph type="sldNum" sz="quarter" idx="5"/>
          </p:nvPr>
        </p:nvSpPr>
        <p:spPr/>
        <p:txBody>
          <a:bodyPr/>
          <a:lstStyle/>
          <a:p>
            <a:fld id="{BC5623EA-2615-4712-822E-F719B8149ABC}" type="slidenum">
              <a:rPr lang="en-GB" smtClean="0"/>
              <a:t>5</a:t>
            </a:fld>
            <a:endParaRPr lang="en-GB"/>
          </a:p>
        </p:txBody>
      </p:sp>
    </p:spTree>
    <p:extLst>
      <p:ext uri="{BB962C8B-B14F-4D97-AF65-F5344CB8AC3E}">
        <p14:creationId xmlns:p14="http://schemas.microsoft.com/office/powerpoint/2010/main" val="1264268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Here we explore the specifics of data extraction methods, transformation techniques, and loading mechanisms. We also address common challenges such as data quality, scalability, and performance optimization.</a:t>
            </a:r>
          </a:p>
        </p:txBody>
      </p:sp>
      <p:sp>
        <p:nvSpPr>
          <p:cNvPr id="4" name="Slide Number Placeholder 3"/>
          <p:cNvSpPr>
            <a:spLocks noGrp="1"/>
          </p:cNvSpPr>
          <p:nvPr>
            <p:ph type="sldNum" sz="quarter" idx="5"/>
          </p:nvPr>
        </p:nvSpPr>
        <p:spPr/>
        <p:txBody>
          <a:bodyPr/>
          <a:lstStyle/>
          <a:p>
            <a:fld id="{BC5623EA-2615-4712-822E-F719B8149ABC}" type="slidenum">
              <a:rPr lang="en-GB" smtClean="0"/>
              <a:t>6</a:t>
            </a:fld>
            <a:endParaRPr lang="en-GB"/>
          </a:p>
        </p:txBody>
      </p:sp>
    </p:spTree>
    <p:extLst>
      <p:ext uri="{BB962C8B-B14F-4D97-AF65-F5344CB8AC3E}">
        <p14:creationId xmlns:p14="http://schemas.microsoft.com/office/powerpoint/2010/main" val="2514370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Extraction involves API integration, log data ingestion, and streaming data capture. Methods are designed to handle high throughput and ensure minimal latency for real-time data availability.
Image source: Microsoft 365 content library
</a:t>
            </a:r>
          </a:p>
        </p:txBody>
      </p:sp>
      <p:sp>
        <p:nvSpPr>
          <p:cNvPr id="4" name="Slide Number Placeholder 3"/>
          <p:cNvSpPr>
            <a:spLocks noGrp="1"/>
          </p:cNvSpPr>
          <p:nvPr>
            <p:ph type="sldNum" sz="quarter" idx="5"/>
          </p:nvPr>
        </p:nvSpPr>
        <p:spPr/>
        <p:txBody>
          <a:bodyPr/>
          <a:lstStyle/>
          <a:p>
            <a:fld id="{BC5623EA-2615-4712-822E-F719B8149ABC}" type="slidenum">
              <a:rPr lang="en-GB" smtClean="0"/>
              <a:t>7</a:t>
            </a:fld>
            <a:endParaRPr lang="en-GB"/>
          </a:p>
        </p:txBody>
      </p:sp>
    </p:spTree>
    <p:extLst>
      <p:ext uri="{BB962C8B-B14F-4D97-AF65-F5344CB8AC3E}">
        <p14:creationId xmlns:p14="http://schemas.microsoft.com/office/powerpoint/2010/main" val="3212679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Transformations include data validation, deduplication, normalization, and enrichment with external datasets. These steps improve data accuracy and usability for downstream analytics.
Image source: Microsoft 365 content library
</a:t>
            </a:r>
          </a:p>
        </p:txBody>
      </p:sp>
      <p:sp>
        <p:nvSpPr>
          <p:cNvPr id="4" name="Slide Number Placeholder 3"/>
          <p:cNvSpPr>
            <a:spLocks noGrp="1"/>
          </p:cNvSpPr>
          <p:nvPr>
            <p:ph type="sldNum" sz="quarter" idx="5"/>
          </p:nvPr>
        </p:nvSpPr>
        <p:spPr/>
        <p:txBody>
          <a:bodyPr/>
          <a:lstStyle/>
          <a:p>
            <a:fld id="{BC5623EA-2615-4712-822E-F719B8149ABC}" type="slidenum">
              <a:rPr lang="en-GB" smtClean="0"/>
              <a:t>8</a:t>
            </a:fld>
            <a:endParaRPr lang="en-GB"/>
          </a:p>
        </p:txBody>
      </p:sp>
    </p:spTree>
    <p:extLst>
      <p:ext uri="{BB962C8B-B14F-4D97-AF65-F5344CB8AC3E}">
        <p14:creationId xmlns:p14="http://schemas.microsoft.com/office/powerpoint/2010/main" val="1379069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Loading uses batch and streaming methods to populate data warehouses and marts. The system is optimized for parallel processing and resource management to support growing data volumes efficiently.
Image source: Microsoft 365 content library
</a:t>
            </a:r>
          </a:p>
        </p:txBody>
      </p:sp>
      <p:sp>
        <p:nvSpPr>
          <p:cNvPr id="4" name="Slide Number Placeholder 3"/>
          <p:cNvSpPr>
            <a:spLocks noGrp="1"/>
          </p:cNvSpPr>
          <p:nvPr>
            <p:ph type="sldNum" sz="quarter" idx="5"/>
          </p:nvPr>
        </p:nvSpPr>
        <p:spPr/>
        <p:txBody>
          <a:bodyPr/>
          <a:lstStyle/>
          <a:p>
            <a:fld id="{BC5623EA-2615-4712-822E-F719B8149ABC}" type="slidenum">
              <a:rPr lang="en-GB" smtClean="0"/>
              <a:t>9</a:t>
            </a:fld>
            <a:endParaRPr lang="en-GB"/>
          </a:p>
        </p:txBody>
      </p:sp>
    </p:spTree>
    <p:extLst>
      <p:ext uri="{BB962C8B-B14F-4D97-AF65-F5344CB8AC3E}">
        <p14:creationId xmlns:p14="http://schemas.microsoft.com/office/powerpoint/2010/main" val="967545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Workflows are managed using orchestration frameworks to automate task execution, handle dependencies, and enable retries on failure. This ensures reliability and efficiency in data processing pipelines.
Image source: Microsoft 365 content library
</a:t>
            </a:r>
          </a:p>
        </p:txBody>
      </p:sp>
      <p:sp>
        <p:nvSpPr>
          <p:cNvPr id="4" name="Slide Number Placeholder 3"/>
          <p:cNvSpPr>
            <a:spLocks noGrp="1"/>
          </p:cNvSpPr>
          <p:nvPr>
            <p:ph type="sldNum" sz="quarter" idx="5"/>
          </p:nvPr>
        </p:nvSpPr>
        <p:spPr/>
        <p:txBody>
          <a:bodyPr/>
          <a:lstStyle/>
          <a:p>
            <a:fld id="{BC5623EA-2615-4712-822E-F719B8149ABC}" type="slidenum">
              <a:rPr lang="en-GB" smtClean="0"/>
              <a:t>10</a:t>
            </a:fld>
            <a:endParaRPr lang="en-GB"/>
          </a:p>
        </p:txBody>
      </p:sp>
    </p:spTree>
    <p:extLst>
      <p:ext uri="{BB962C8B-B14F-4D97-AF65-F5344CB8AC3E}">
        <p14:creationId xmlns:p14="http://schemas.microsoft.com/office/powerpoint/2010/main" val="808884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t>
            </a:r>
          </a:p>
        </p:txBody>
      </p:sp>
      <p:sp>
        <p:nvSpPr>
          <p:cNvPr id="4" name="Slide Number Placeholder 3"/>
          <p:cNvSpPr>
            <a:spLocks noGrp="1"/>
          </p:cNvSpPr>
          <p:nvPr>
            <p:ph type="sldNum" sz="quarter" idx="5"/>
          </p:nvPr>
        </p:nvSpPr>
        <p:spPr/>
        <p:txBody>
          <a:bodyPr/>
          <a:lstStyle/>
          <a:p>
            <a:fld id="{BC5623EA-2615-4712-822E-F719B8149ABC}" type="slidenum">
              <a:rPr lang="en-GB" smtClean="0"/>
              <a:t>12</a:t>
            </a:fld>
            <a:endParaRPr lang="en-GB"/>
          </a:p>
        </p:txBody>
      </p:sp>
    </p:spTree>
    <p:extLst>
      <p:ext uri="{BB962C8B-B14F-4D97-AF65-F5344CB8AC3E}">
        <p14:creationId xmlns:p14="http://schemas.microsoft.com/office/powerpoint/2010/main" val="273549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Uber ETL pipeline project demonstrates a comprehensive approach to building scalable data infrastructure. Its design and implementation address critical data challenges, ensuring reliable data flow that supports Uber’s business intelligence and operational needs.</a:t>
            </a:r>
          </a:p>
        </p:txBody>
      </p:sp>
      <p:sp>
        <p:nvSpPr>
          <p:cNvPr id="4" name="Slide Number Placeholder 3"/>
          <p:cNvSpPr>
            <a:spLocks noGrp="1"/>
          </p:cNvSpPr>
          <p:nvPr>
            <p:ph type="sldNum" sz="quarter" idx="5"/>
          </p:nvPr>
        </p:nvSpPr>
        <p:spPr/>
        <p:txBody>
          <a:bodyPr/>
          <a:lstStyle/>
          <a:p>
            <a:fld id="{BC5623EA-2615-4712-822E-F719B8149ABC}" type="slidenum">
              <a:rPr lang="en-GB" smtClean="0"/>
              <a:t>13</a:t>
            </a:fld>
            <a:endParaRPr lang="en-GB"/>
          </a:p>
        </p:txBody>
      </p:sp>
    </p:spTree>
    <p:extLst>
      <p:ext uri="{BB962C8B-B14F-4D97-AF65-F5344CB8AC3E}">
        <p14:creationId xmlns:p14="http://schemas.microsoft.com/office/powerpoint/2010/main" val="1682687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21226-740C-8992-0788-4216FC3019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20DF9DF-6625-0DFC-50AA-7A750A4BF7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C9465A2-0363-732A-1E0E-4D597F619EB9}"/>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5" name="Footer Placeholder 4">
            <a:extLst>
              <a:ext uri="{FF2B5EF4-FFF2-40B4-BE49-F238E27FC236}">
                <a16:creationId xmlns:a16="http://schemas.microsoft.com/office/drawing/2014/main" id="{0FEC9786-888E-650D-F354-A165D05CDA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054B98-3E6D-07E8-37B6-B9BB49371524}"/>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712424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EA4F-B1B7-FF44-B28F-C5CF7FDE64E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84FD845-98B5-DF32-0320-28451552E9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E1EAB3-469E-6440-275A-5F6B0F470CFC}"/>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5" name="Footer Placeholder 4">
            <a:extLst>
              <a:ext uri="{FF2B5EF4-FFF2-40B4-BE49-F238E27FC236}">
                <a16:creationId xmlns:a16="http://schemas.microsoft.com/office/drawing/2014/main" id="{BD26EB34-4345-C20E-D065-C744EA94DD1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7FB57B-6E22-5C7F-6822-8364B3285EF5}"/>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804966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FF4C-13A4-FB87-6427-5B31F11C24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55D86C1-88A5-8DEE-2AE1-E9D6DDF78A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A783F3-385D-1210-E174-35350EB13B4D}"/>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5" name="Footer Placeholder 4">
            <a:extLst>
              <a:ext uri="{FF2B5EF4-FFF2-40B4-BE49-F238E27FC236}">
                <a16:creationId xmlns:a16="http://schemas.microsoft.com/office/drawing/2014/main" id="{D9FD98E7-728E-DF17-ABF2-5409240E02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CCE821-070D-18D7-B9C6-24CA26F49134}"/>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448429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D7FD4-E2A5-0FBC-9403-FFD1424D3ED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E1D6A4B-EADA-EEA0-106D-B00495526F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4DE3478-2D9E-B058-23D1-4564D32B4E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91B08FA-077F-24E3-7CE8-0CD1DD840D0D}"/>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6" name="Footer Placeholder 5">
            <a:extLst>
              <a:ext uri="{FF2B5EF4-FFF2-40B4-BE49-F238E27FC236}">
                <a16:creationId xmlns:a16="http://schemas.microsoft.com/office/drawing/2014/main" id="{B3CD9E8F-BEAF-6189-ABB2-BEC3E79F65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F3FA145-A6C9-4663-F79E-C7FBC2912BB0}"/>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402180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4C507-AB5B-BCB1-B848-3273CE7B5B3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E51ACA5-A3D6-FCBF-FC8F-364868F4EF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616939-67BA-A1EF-DDD9-E26250520C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EBBA5D6-06D3-915B-E036-BFDA7009CF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1E6ADD-138F-7A1B-A224-945BB223E0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6F8DCB2-EC86-45F6-57B3-D8207A3317B9}"/>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8" name="Footer Placeholder 7">
            <a:extLst>
              <a:ext uri="{FF2B5EF4-FFF2-40B4-BE49-F238E27FC236}">
                <a16:creationId xmlns:a16="http://schemas.microsoft.com/office/drawing/2014/main" id="{1D5B8F8D-D21A-9998-DBAF-D9F501F9529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7D5AB16-79A7-3702-24A6-F005B8CA5238}"/>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3179672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927A6-02DD-E8C5-B819-A08217FCC03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4DFED17-17FB-BEC3-8A60-15D0C8AE4DE6}"/>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4" name="Footer Placeholder 3">
            <a:extLst>
              <a:ext uri="{FF2B5EF4-FFF2-40B4-BE49-F238E27FC236}">
                <a16:creationId xmlns:a16="http://schemas.microsoft.com/office/drawing/2014/main" id="{5D9213A5-CFDF-43E9-A105-71854AF87AE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967BD56-9F98-B8FC-A346-799E89DE0366}"/>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322208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66AC9-8BDB-B0FF-0B25-2471EFF3AFC7}"/>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3" name="Footer Placeholder 2">
            <a:extLst>
              <a:ext uri="{FF2B5EF4-FFF2-40B4-BE49-F238E27FC236}">
                <a16:creationId xmlns:a16="http://schemas.microsoft.com/office/drawing/2014/main" id="{6866A8ED-40F7-3673-8F2B-7A8460A2781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0AC9667-8E51-7310-1DF7-38C0D29CB61C}"/>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1562957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889E5-2192-49ED-111D-F55874B835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AC614A5-B9E1-CE28-F191-421E103FD6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C43F7F3-14EE-E8EC-7326-63FB8D2668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01DC6D-1E33-1C91-4ADD-02AFA713A276}"/>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6" name="Footer Placeholder 5">
            <a:extLst>
              <a:ext uri="{FF2B5EF4-FFF2-40B4-BE49-F238E27FC236}">
                <a16:creationId xmlns:a16="http://schemas.microsoft.com/office/drawing/2014/main" id="{05638D2B-A777-D428-5A6B-9129109FE3B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9FFC3FF-290E-A385-F268-81F07B498649}"/>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2945586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8D8A6-D5B6-A649-142E-57CDD96AB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0BBB79F-8097-18A6-D943-647A06348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D09ABDA-786D-96FE-2FDB-607807E960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BCCCE-4029-9196-A314-2C5ACBA949AC}"/>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6" name="Footer Placeholder 5">
            <a:extLst>
              <a:ext uri="{FF2B5EF4-FFF2-40B4-BE49-F238E27FC236}">
                <a16:creationId xmlns:a16="http://schemas.microsoft.com/office/drawing/2014/main" id="{A4A8F75E-0B7E-3509-E8A2-A272910DA62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FEBA601-3FF9-183D-91CD-A8CDC257C201}"/>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2588931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88465-7442-1BF6-8C02-7EB6416056E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C68CCD-1AAE-A7E3-2335-7C3DCC51BF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30B76CE-82D6-9D0F-38EC-1DC4F670D4B9}"/>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5" name="Footer Placeholder 4">
            <a:extLst>
              <a:ext uri="{FF2B5EF4-FFF2-40B4-BE49-F238E27FC236}">
                <a16:creationId xmlns:a16="http://schemas.microsoft.com/office/drawing/2014/main" id="{FB4FB251-87AB-AF5D-1587-9C1A2BB0C0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DF1F9-2256-F722-D573-0212E3F49E1C}"/>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3018598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F62645-C3A6-1FC4-EF4C-6002821CBD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FD0DFC4-4BBF-C18C-D563-BAB1A051F2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E14D78-EC25-DCA8-0888-EBD6C8DE4C7A}"/>
              </a:ext>
            </a:extLst>
          </p:cNvPr>
          <p:cNvSpPr>
            <a:spLocks noGrp="1"/>
          </p:cNvSpPr>
          <p:nvPr>
            <p:ph type="dt" sz="half" idx="10"/>
          </p:nvPr>
        </p:nvSpPr>
        <p:spPr/>
        <p:txBody>
          <a:bodyPr/>
          <a:lstStyle/>
          <a:p>
            <a:fld id="{BE28B8E5-32AF-432C-AAB7-252F1A1624A2}" type="datetimeFigureOut">
              <a:rPr lang="en-GB" smtClean="0"/>
              <a:t>22/08/2025</a:t>
            </a:fld>
            <a:endParaRPr lang="en-GB"/>
          </a:p>
        </p:txBody>
      </p:sp>
      <p:sp>
        <p:nvSpPr>
          <p:cNvPr id="5" name="Footer Placeholder 4">
            <a:extLst>
              <a:ext uri="{FF2B5EF4-FFF2-40B4-BE49-F238E27FC236}">
                <a16:creationId xmlns:a16="http://schemas.microsoft.com/office/drawing/2014/main" id="{76D9F90A-B55D-6A34-A7D9-60BE3B9425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51808-8560-C868-D597-BB70711A8F42}"/>
              </a:ext>
            </a:extLst>
          </p:cNvPr>
          <p:cNvSpPr>
            <a:spLocks noGrp="1"/>
          </p:cNvSpPr>
          <p:nvPr>
            <p:ph type="sldNum" sz="quarter" idx="12"/>
          </p:nvPr>
        </p:nvSpPr>
        <p:spPr/>
        <p:txBody>
          <a:bodyPr/>
          <a:lstStyle/>
          <a:p>
            <a:fld id="{7694C689-36FE-4C07-99F2-984E83C7AA55}" type="slidenum">
              <a:rPr lang="en-GB" smtClean="0"/>
              <a:t>‹#›</a:t>
            </a:fld>
            <a:endParaRPr lang="en-GB"/>
          </a:p>
        </p:txBody>
      </p:sp>
    </p:spTree>
    <p:extLst>
      <p:ext uri="{BB962C8B-B14F-4D97-AF65-F5344CB8AC3E}">
        <p14:creationId xmlns:p14="http://schemas.microsoft.com/office/powerpoint/2010/main" val="350892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AFDEAA-72DE-54B1-4E8C-3BB78D1809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29C0AAB-F83F-7601-2A6E-7655ADD622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25285D2-FE85-0638-9732-10373BCC9F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28B8E5-32AF-432C-AAB7-252F1A1624A2}" type="datetimeFigureOut">
              <a:rPr lang="en-GB" smtClean="0"/>
              <a:t>22/08/2025</a:t>
            </a:fld>
            <a:endParaRPr lang="en-GB"/>
          </a:p>
        </p:txBody>
      </p:sp>
      <p:sp>
        <p:nvSpPr>
          <p:cNvPr id="5" name="Footer Placeholder 4">
            <a:extLst>
              <a:ext uri="{FF2B5EF4-FFF2-40B4-BE49-F238E27FC236}">
                <a16:creationId xmlns:a16="http://schemas.microsoft.com/office/drawing/2014/main" id="{D86000A2-621A-80F5-49CD-028067827A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EEBB1D4-7EC4-5739-4B04-8DDE1A176C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94C689-36FE-4C07-99F2-984E83C7AA55}" type="slidenum">
              <a:rPr lang="en-GB" smtClean="0"/>
              <a:t>‹#›</a:t>
            </a:fld>
            <a:endParaRPr lang="en-GB"/>
          </a:p>
        </p:txBody>
      </p:sp>
    </p:spTree>
    <p:extLst>
      <p:ext uri="{BB962C8B-B14F-4D97-AF65-F5344CB8AC3E}">
        <p14:creationId xmlns:p14="http://schemas.microsoft.com/office/powerpoint/2010/main" val="2432152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Video 9" descr="Computer Servers">
            <a:extLst>
              <a:ext uri="{FF2B5EF4-FFF2-40B4-BE49-F238E27FC236}">
                <a16:creationId xmlns:a16="http://schemas.microsoft.com/office/drawing/2014/main" id="{52236429-2020-0392-592D-71CFDD0C8A88}"/>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r="-1" b="283"/>
          <a:stretch>
            <a:fillRect/>
          </a:stretch>
        </p:blipFill>
        <p:spPr>
          <a:xfrm>
            <a:off x="20" y="-22"/>
            <a:ext cx="12191977" cy="6858022"/>
          </a:xfrm>
          <a:prstGeom prst="rect">
            <a:avLst/>
          </a:prstGeom>
        </p:spPr>
      </p:pic>
      <p:sp>
        <p:nvSpPr>
          <p:cNvPr id="16" name="Rectangle 15">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BA9C41-5158-6246-75F7-C85D863B6C36}"/>
              </a:ext>
            </a:extLst>
          </p:cNvPr>
          <p:cNvSpPr>
            <a:spLocks noGrp="1"/>
          </p:cNvSpPr>
          <p:nvPr>
            <p:ph type="ctrTitle"/>
          </p:nvPr>
        </p:nvSpPr>
        <p:spPr>
          <a:xfrm>
            <a:off x="643466" y="643467"/>
            <a:ext cx="5452529" cy="3569242"/>
          </a:xfrm>
        </p:spPr>
        <p:txBody>
          <a:bodyPr anchor="t">
            <a:normAutofit/>
          </a:bodyPr>
          <a:lstStyle/>
          <a:p>
            <a:pPr algn="l"/>
            <a:r>
              <a:rPr lang="en-GB" sz="4800">
                <a:solidFill>
                  <a:srgbClr val="FFFFFF"/>
                </a:solidFill>
              </a:rPr>
              <a:t>Uber Data Engineering Project: Designing and Implementing an ETL Pipeline</a:t>
            </a:r>
          </a:p>
        </p:txBody>
      </p:sp>
      <p:sp>
        <p:nvSpPr>
          <p:cNvPr id="3" name="Subtitle 2">
            <a:extLst>
              <a:ext uri="{FF2B5EF4-FFF2-40B4-BE49-F238E27FC236}">
                <a16:creationId xmlns:a16="http://schemas.microsoft.com/office/drawing/2014/main" id="{85CF2F44-7C37-2373-4585-191119A2FDD2}"/>
              </a:ext>
            </a:extLst>
          </p:cNvPr>
          <p:cNvSpPr>
            <a:spLocks noGrp="1"/>
          </p:cNvSpPr>
          <p:nvPr>
            <p:ph type="subTitle" idx="1"/>
          </p:nvPr>
        </p:nvSpPr>
        <p:spPr>
          <a:xfrm>
            <a:off x="643466" y="4856175"/>
            <a:ext cx="5449479" cy="1272915"/>
          </a:xfrm>
        </p:spPr>
        <p:txBody>
          <a:bodyPr anchor="b">
            <a:normAutofit/>
          </a:bodyPr>
          <a:lstStyle/>
          <a:p>
            <a:pPr algn="l"/>
            <a:r>
              <a:rPr lang="en-US" dirty="0">
                <a:solidFill>
                  <a:srgbClr val="FFFFFF"/>
                </a:solidFill>
              </a:rPr>
              <a:t>Building Scalable ETL Pipelines for Real-Time Analytics </a:t>
            </a:r>
            <a:r>
              <a:rPr lang="en-GB" dirty="0">
                <a:solidFill>
                  <a:srgbClr val="FFFFFF"/>
                </a:solidFill>
              </a:rPr>
              <a:t>on-Prem </a:t>
            </a:r>
            <a:r>
              <a:rPr lang="en-US" dirty="0">
                <a:solidFill>
                  <a:srgbClr val="FFFFFF"/>
                </a:solidFill>
              </a:rPr>
              <a:t>with Python + Airflow + PostgreSQL+ GCS</a:t>
            </a:r>
          </a:p>
        </p:txBody>
      </p:sp>
      <p:sp>
        <p:nvSpPr>
          <p:cNvPr id="18" name="Rectangle 17">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5463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54" fill="hold"/>
                                        <p:tgtEl>
                                          <p:spTgt spid="10"/>
                                        </p:tgtEl>
                                      </p:cBhvr>
                                    </p:cmd>
                                  </p:childTnLst>
                                </p:cTn>
                              </p:par>
                              <p:par>
                                <p:cTn id="7" presetID="10" presetClass="entr" presetSubtype="0" fill="hold" grpId="0" nodeType="withEffect">
                                  <p:stCondLst>
                                    <p:cond delay="500"/>
                                  </p:stCondLst>
                                  <p:iterate>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700"/>
                                        <p:tgtEl>
                                          <p:spTgt spid="2"/>
                                        </p:tgtEl>
                                      </p:cBhvr>
                                    </p:animEffect>
                                  </p:childTnLst>
                                </p:cTn>
                              </p:par>
                              <p:par>
                                <p:cTn id="10" presetID="10" presetClass="entr" presetSubtype="0" fill="hold" grpId="0" nodeType="withEffect">
                                  <p:stCondLst>
                                    <p:cond delay="1000"/>
                                  </p:stCondLst>
                                  <p:iterate>
                                    <p:tmPct val="10000"/>
                                  </p:iterate>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00"/>
                                        <p:tgtEl>
                                          <p:spTgt spid="3">
                                            <p:txEl>
                                              <p:pRg st="0" end="0"/>
                                            </p:txEl>
                                          </p:spTgt>
                                        </p:tgtEl>
                                      </p:cBhvr>
                                    </p:animEffect>
                                  </p:childTnLst>
                                </p:cTn>
                              </p:par>
                              <p:par>
                                <p:cTn id="13" presetID="42" presetClass="entr" presetSubtype="0" fill="hold" grpId="1" nodeType="withEffect">
                                  <p:stCondLst>
                                    <p:cond delay="250"/>
                                  </p:stCondLst>
                                  <p:iterate>
                                    <p:tmPct val="10000"/>
                                  </p:iterate>
                                  <p:childTnLst>
                                    <p:set>
                                      <p:cBhvr>
                                        <p:cTn id="14" dur="1" fill="hold">
                                          <p:stCondLst>
                                            <p:cond delay="0"/>
                                          </p:stCondLst>
                                        </p:cTn>
                                        <p:tgtEl>
                                          <p:spTgt spid="3"/>
                                        </p:tgtEl>
                                        <p:attrNameLst>
                                          <p:attrName>style.visibility</p:attrName>
                                        </p:attrNameLst>
                                      </p:cBhvr>
                                      <p:to>
                                        <p:strVal val="visible"/>
                                      </p:to>
                                    </p:set>
                                    <p:animEffect transition="in" filter="fade">
                                      <p:cBhvr>
                                        <p:cTn id="15" dur="250"/>
                                        <p:tgtEl>
                                          <p:spTgt spid="3"/>
                                        </p:tgtEl>
                                      </p:cBhvr>
                                    </p:animEffect>
                                    <p:anim calcmode="lin" valueType="num">
                                      <p:cBhvr>
                                        <p:cTn id="16" dur="250" fill="hold"/>
                                        <p:tgtEl>
                                          <p:spTgt spid="3"/>
                                        </p:tgtEl>
                                        <p:attrNameLst>
                                          <p:attrName>ppt_x</p:attrName>
                                        </p:attrNameLst>
                                      </p:cBhvr>
                                      <p:tavLst>
                                        <p:tav tm="0">
                                          <p:val>
                                            <p:strVal val="#ppt_x"/>
                                          </p:val>
                                        </p:tav>
                                        <p:tav tm="100000">
                                          <p:val>
                                            <p:strVal val="#ppt_x"/>
                                          </p:val>
                                        </p:tav>
                                      </p:tavLst>
                                    </p:anim>
                                    <p:anim calcmode="lin" valueType="num">
                                      <p:cBhvr>
                                        <p:cTn id="17"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10"/>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0"/>
                                        </p:tgtEl>
                                      </p:cBhvr>
                                    </p:cmd>
                                  </p:childTnLst>
                                </p:cTn>
                              </p:par>
                            </p:childTnLst>
                          </p:cTn>
                        </p:par>
                      </p:childTnLst>
                    </p:cTn>
                  </p:par>
                </p:childTnLst>
              </p:cTn>
              <p:nextCondLst>
                <p:cond evt="onClick" delay="0">
                  <p:tgtEl>
                    <p:spTgt spid="10"/>
                  </p:tgtEl>
                </p:cond>
              </p:nextCondLst>
            </p:seq>
            <p:video>
              <p:cMediaNode mute="1">
                <p:cTn id="23" repeatCount="indefinite" fill="hold" display="0">
                  <p:stCondLst>
                    <p:cond delay="indefinite"/>
                  </p:stCondLst>
                </p:cTn>
                <p:tgtEl>
                  <p:spTgt spid="10"/>
                </p:tgtEl>
              </p:cMediaNode>
            </p:video>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FCDCE2-BA2B-7E9C-FCAA-EAB5F92C8745}"/>
              </a:ext>
            </a:extLst>
          </p:cNvPr>
          <p:cNvSpPr>
            <a:spLocks noGrp="1"/>
          </p:cNvSpPr>
          <p:nvPr>
            <p:ph type="title"/>
          </p:nvPr>
        </p:nvSpPr>
        <p:spPr>
          <a:xfrm>
            <a:off x="532416" y="5136403"/>
            <a:ext cx="4781603" cy="1200329"/>
          </a:xfrm>
        </p:spPr>
        <p:txBody>
          <a:bodyPr vert="horz" lIns="91440" tIns="45720" rIns="91440" bIns="45720" rtlCol="0" anchor="t">
            <a:normAutofit/>
          </a:bodyPr>
          <a:lstStyle/>
          <a:p>
            <a:r>
              <a:rPr lang="en-US" sz="3600" b="1" kern="1200" dirty="0">
                <a:solidFill>
                  <a:schemeClr val="tx1"/>
                </a:solidFill>
                <a:latin typeface="+mj-lt"/>
                <a:ea typeface="+mj-ea"/>
                <a:cs typeface="+mj-cs"/>
              </a:rPr>
              <a:t>Project Overview</a:t>
            </a:r>
          </a:p>
        </p:txBody>
      </p:sp>
      <p:pic>
        <p:nvPicPr>
          <p:cNvPr id="5" name="Content Placeholder 4" descr="Planning on digital screen">
            <a:extLst>
              <a:ext uri="{FF2B5EF4-FFF2-40B4-BE49-F238E27FC236}">
                <a16:creationId xmlns:a16="http://schemas.microsoft.com/office/drawing/2014/main" id="{17A3B536-6E84-451C-90FC-C6B8CED614C9}"/>
              </a:ext>
            </a:extLst>
          </p:cNvPr>
          <p:cNvPicPr>
            <a:picLocks noGrp="1" noChangeAspect="1"/>
          </p:cNvPicPr>
          <p:nvPr>
            <p:ph sz="half" idx="1"/>
          </p:nvPr>
        </p:nvPicPr>
        <p:blipFill>
          <a:blip r:embed="rId3"/>
          <a:srcRect t="12152" r="3" b="3"/>
          <a:stretch>
            <a:fillRect/>
          </a:stretch>
        </p:blipFill>
        <p:spPr>
          <a:xfrm>
            <a:off x="239841" y="681317"/>
            <a:ext cx="5154412" cy="4119660"/>
          </a:xfrm>
          <a:prstGeom prst="rect">
            <a:avLst/>
          </a:prstGeom>
        </p:spPr>
      </p:pic>
      <p:sp>
        <p:nvSpPr>
          <p:cNvPr id="9" name="TextBox 8">
            <a:extLst>
              <a:ext uri="{FF2B5EF4-FFF2-40B4-BE49-F238E27FC236}">
                <a16:creationId xmlns:a16="http://schemas.microsoft.com/office/drawing/2014/main" id="{70A31F40-C4C8-08BA-A610-484AD84FE548}"/>
              </a:ext>
            </a:extLst>
          </p:cNvPr>
          <p:cNvSpPr txBox="1"/>
          <p:nvPr/>
        </p:nvSpPr>
        <p:spPr>
          <a:xfrm>
            <a:off x="4586740" y="5136402"/>
            <a:ext cx="7605260" cy="1200329"/>
          </a:xfrm>
          <a:prstGeom prst="rect">
            <a:avLst/>
          </a:prstGeom>
          <a:noFill/>
        </p:spPr>
        <p:txBody>
          <a:bodyPr wrap="square">
            <a:spAutoFit/>
          </a:bodyPr>
          <a:lstStyle/>
          <a:p>
            <a:r>
              <a:rPr lang="en-GB" dirty="0"/>
              <a:t>The pipeline aims to provide timely and accurate data to drive informed decisions, improve operational efficiency, and enhance customer satisfaction. It supports scalability and flexibility to adapt to Uber’s evolving data needs.</a:t>
            </a:r>
          </a:p>
        </p:txBody>
      </p:sp>
      <p:sp>
        <p:nvSpPr>
          <p:cNvPr id="12" name="TextBox 11">
            <a:extLst>
              <a:ext uri="{FF2B5EF4-FFF2-40B4-BE49-F238E27FC236}">
                <a16:creationId xmlns:a16="http://schemas.microsoft.com/office/drawing/2014/main" id="{B26704A8-01BE-B5AB-99E5-44D89952AC75}"/>
              </a:ext>
            </a:extLst>
          </p:cNvPr>
          <p:cNvSpPr txBox="1"/>
          <p:nvPr/>
        </p:nvSpPr>
        <p:spPr>
          <a:xfrm>
            <a:off x="5634094" y="986821"/>
            <a:ext cx="6098720" cy="1754326"/>
          </a:xfrm>
          <a:prstGeom prst="rect">
            <a:avLst/>
          </a:prstGeom>
          <a:noFill/>
        </p:spPr>
        <p:txBody>
          <a:bodyPr wrap="square">
            <a:spAutoFit/>
          </a:bodyPr>
          <a:lstStyle/>
          <a:p>
            <a:r>
              <a:rPr lang="en-GB" dirty="0"/>
              <a:t>Problem: Raw Uber booking data (CSV) needed to be cleaned, transformed, and loaded into BigQuery.</a:t>
            </a:r>
          </a:p>
          <a:p>
            <a:r>
              <a:rPr lang="en-GB" dirty="0"/>
              <a:t>Solution: ETL pipeline using Python scripts orchestrated by Airflow.</a:t>
            </a:r>
          </a:p>
          <a:p>
            <a:r>
              <a:rPr lang="en-GB" dirty="0"/>
              <a:t>Outcomes: Automated data pipeline, dimensional model (facts + dimensions), analytics-ready data.</a:t>
            </a:r>
          </a:p>
        </p:txBody>
      </p:sp>
    </p:spTree>
    <p:extLst>
      <p:ext uri="{BB962C8B-B14F-4D97-AF65-F5344CB8AC3E}">
        <p14:creationId xmlns:p14="http://schemas.microsoft.com/office/powerpoint/2010/main" val="8610914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5A347994-FA0D-5710-A7EE-3ECB884EEA58}"/>
              </a:ext>
            </a:extLst>
          </p:cNvPr>
          <p:cNvSpPr>
            <a:spLocks noGrp="1"/>
          </p:cNvSpPr>
          <p:nvPr>
            <p:ph type="ctrTitle"/>
          </p:nvPr>
        </p:nvSpPr>
        <p:spPr>
          <a:xfrm>
            <a:off x="277091" y="3075709"/>
            <a:ext cx="7220989" cy="3299532"/>
          </a:xfrm>
        </p:spPr>
        <p:txBody>
          <a:bodyPr anchor="b">
            <a:normAutofit/>
          </a:bodyPr>
          <a:lstStyle/>
          <a:p>
            <a:pPr algn="l"/>
            <a:r>
              <a:rPr lang="en-GB" sz="7400" dirty="0"/>
              <a:t>ETL Pipeline Architecture and Design</a:t>
            </a:r>
          </a:p>
        </p:txBody>
      </p:sp>
    </p:spTree>
    <p:extLst>
      <p:ext uri="{BB962C8B-B14F-4D97-AF65-F5344CB8AC3E}">
        <p14:creationId xmlns:p14="http://schemas.microsoft.com/office/powerpoint/2010/main" val="357360306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1ACF43CB-8980-BD5A-5D66-CDDBC4FA8841}"/>
              </a:ext>
            </a:extLst>
          </p:cNvPr>
          <p:cNvSpPr>
            <a:spLocks noGrp="1"/>
          </p:cNvSpPr>
          <p:nvPr>
            <p:ph type="title"/>
          </p:nvPr>
        </p:nvSpPr>
        <p:spPr>
          <a:xfrm>
            <a:off x="438992" y="2535937"/>
            <a:ext cx="3178628" cy="1786125"/>
          </a:xfrm>
        </p:spPr>
        <p:txBody>
          <a:bodyPr anchor="t">
            <a:normAutofit/>
          </a:bodyPr>
          <a:lstStyle/>
          <a:p>
            <a:r>
              <a:rPr lang="en-GB" dirty="0"/>
              <a:t>ETL Architecture</a:t>
            </a:r>
          </a:p>
        </p:txBody>
      </p:sp>
      <p:sp>
        <p:nvSpPr>
          <p:cNvPr id="5" name="Content Placeholder 4">
            <a:extLst>
              <a:ext uri="{FF2B5EF4-FFF2-40B4-BE49-F238E27FC236}">
                <a16:creationId xmlns:a16="http://schemas.microsoft.com/office/drawing/2014/main" id="{93483BE3-5A41-E5B6-3496-6A22AB3572B9}"/>
              </a:ext>
            </a:extLst>
          </p:cNvPr>
          <p:cNvSpPr>
            <a:spLocks noGrp="1"/>
          </p:cNvSpPr>
          <p:nvPr>
            <p:ph idx="1"/>
          </p:nvPr>
        </p:nvSpPr>
        <p:spPr>
          <a:xfrm>
            <a:off x="4056611" y="548639"/>
            <a:ext cx="7297189" cy="4518661"/>
          </a:xfrm>
        </p:spPr>
        <p:txBody>
          <a:bodyPr>
            <a:norm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Source: Google Drive → Staging in GCS.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Transform: Python cleaning + normalization.</a:t>
            </a:r>
          </a:p>
          <a:p>
            <a:pPr marL="342900" lvl="0" indent="-342900" defTabSz="457200">
              <a:lnSpc>
                <a:spcPct val="100000"/>
              </a:lnSpc>
              <a:spcBef>
                <a:spcPct val="20000"/>
              </a:spcBef>
              <a:buFont typeface="Arial"/>
              <a:buChar char="•"/>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Load: Dimension + Fact tables </a:t>
            </a:r>
            <a:r>
              <a:rPr lang="en-GB" sz="3200" dirty="0"/>
              <a:t>→ </a:t>
            </a:r>
            <a:r>
              <a:rPr lang="en-GB" sz="3200" dirty="0">
                <a:solidFill>
                  <a:prstClr val="black"/>
                </a:solidFill>
                <a:latin typeface="Calibri"/>
              </a:rPr>
              <a:t>GCS outputs + </a:t>
            </a:r>
            <a:r>
              <a:rPr lang="en-GB" sz="3200" dirty="0"/>
              <a:t>Postgres SQL </a:t>
            </a:r>
            <a:r>
              <a:rPr kumimoji="0" lang="en-US" sz="3200" b="0" i="0" u="none" strike="noStrike" kern="1200" cap="none" spc="0" normalizeH="0" baseline="0" noProof="0" dirty="0">
                <a:ln>
                  <a:noFill/>
                </a:ln>
                <a:solidFill>
                  <a:prstClr val="black"/>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Orchestration: Airflow DAG for scheduling + automation.</a:t>
            </a:r>
          </a:p>
        </p:txBody>
      </p:sp>
    </p:spTree>
    <p:extLst>
      <p:ext uri="{BB962C8B-B14F-4D97-AF65-F5344CB8AC3E}">
        <p14:creationId xmlns:p14="http://schemas.microsoft.com/office/powerpoint/2010/main" val="35543191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110AFC5-8292-7A99-465E-D2A1E28EF080}"/>
              </a:ext>
            </a:extLst>
          </p:cNvPr>
          <p:cNvSpPr>
            <a:spLocks noGrp="1"/>
          </p:cNvSpPr>
          <p:nvPr>
            <p:ph type="title"/>
          </p:nvPr>
        </p:nvSpPr>
        <p:spPr>
          <a:xfrm>
            <a:off x="612648" y="548640"/>
            <a:ext cx="4803224" cy="1298446"/>
          </a:xfrm>
        </p:spPr>
        <p:txBody>
          <a:bodyPr vert="horz" lIns="91440" tIns="45720" rIns="91440" bIns="45720" rtlCol="0" anchor="t">
            <a:normAutofit/>
          </a:bodyPr>
          <a:lstStyle/>
          <a:p>
            <a:r>
              <a:rPr lang="en-US" sz="3600" b="1" kern="1200">
                <a:solidFill>
                  <a:schemeClr val="tx1"/>
                </a:solidFill>
                <a:latin typeface="+mj-lt"/>
                <a:ea typeface="+mj-ea"/>
                <a:cs typeface="+mj-cs"/>
              </a:rPr>
              <a:t>Data Warehouse Star Schema</a:t>
            </a:r>
            <a:endParaRPr lang="en-US" sz="3600" b="1" kern="1200" dirty="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97A8DA26-7077-F28E-ECB7-0FA6BA57611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28520" y="548637"/>
            <a:ext cx="5546770" cy="5760723"/>
          </a:xfrm>
        </p:spPr>
        <p:txBody>
          <a:bodyPr>
            <a:normAutofit fontScale="85000" lnSpcReduction="20000"/>
          </a:bodyPr>
          <a:lstStyle/>
          <a:p>
            <a:pPr marL="0" lvl="0" indent="0" defTabSz="457200">
              <a:lnSpc>
                <a:spcPct val="100000"/>
              </a:lnSpc>
              <a:spcBef>
                <a:spcPct val="20000"/>
              </a:spcBef>
              <a:buNone/>
            </a:pPr>
            <a:r>
              <a:rPr lang="en-GB" sz="3200" dirty="0">
                <a:solidFill>
                  <a:prstClr val="black"/>
                </a:solidFill>
                <a:latin typeface="Calibri"/>
              </a:rPr>
              <a:t>The warehouse schema was designed in a star schema pattern:</a:t>
            </a:r>
          </a:p>
          <a:p>
            <a:pPr marL="342900" lvl="0" indent="-342900" defTabSz="457200">
              <a:lnSpc>
                <a:spcPct val="100000"/>
              </a:lnSpc>
              <a:spcBef>
                <a:spcPct val="20000"/>
              </a:spcBef>
              <a:buFont typeface="Arial"/>
              <a:buChar char="•"/>
            </a:pPr>
            <a:r>
              <a:rPr lang="en-GB" sz="3200" dirty="0">
                <a:solidFill>
                  <a:prstClr val="black"/>
                </a:solidFill>
                <a:latin typeface="Calibri"/>
              </a:rPr>
              <a:t>- Fact Table: </a:t>
            </a:r>
          </a:p>
          <a:p>
            <a:pPr marL="800100" lvl="1" indent="-342900" defTabSz="457200">
              <a:lnSpc>
                <a:spcPct val="100000"/>
              </a:lnSpc>
              <a:spcBef>
                <a:spcPct val="20000"/>
              </a:spcBef>
              <a:buFont typeface="Arial"/>
              <a:buChar char="•"/>
            </a:pPr>
            <a:r>
              <a:rPr lang="en-GB" sz="2800" dirty="0" err="1">
                <a:solidFill>
                  <a:prstClr val="black"/>
                </a:solidFill>
                <a:latin typeface="Calibri"/>
              </a:rPr>
              <a:t>fact_uber_trips</a:t>
            </a:r>
            <a:endParaRPr lang="en-GB" sz="2800" dirty="0">
              <a:solidFill>
                <a:prstClr val="black"/>
              </a:solidFill>
              <a:latin typeface="Calibri"/>
            </a:endParaRPr>
          </a:p>
          <a:p>
            <a:pPr marL="342900" lvl="0" indent="-342900" defTabSz="457200">
              <a:lnSpc>
                <a:spcPct val="100000"/>
              </a:lnSpc>
              <a:spcBef>
                <a:spcPct val="20000"/>
              </a:spcBef>
              <a:buFont typeface="Arial"/>
              <a:buChar char="•"/>
            </a:pPr>
            <a:r>
              <a:rPr lang="en-GB" sz="3200" dirty="0">
                <a:solidFill>
                  <a:prstClr val="black"/>
                </a:solidFill>
                <a:latin typeface="Calibri"/>
              </a:rPr>
              <a:t>- Dimension Tables: </a:t>
            </a:r>
          </a:p>
          <a:p>
            <a:pPr marL="800100" lvl="1" indent="-342900" defTabSz="457200">
              <a:lnSpc>
                <a:spcPct val="100000"/>
              </a:lnSpc>
              <a:spcBef>
                <a:spcPct val="20000"/>
              </a:spcBef>
              <a:buFont typeface="Arial"/>
              <a:buChar char="•"/>
            </a:pPr>
            <a:r>
              <a:rPr lang="en-GB" sz="2800" dirty="0" err="1">
                <a:solidFill>
                  <a:prstClr val="black"/>
                </a:solidFill>
                <a:latin typeface="Calibri"/>
              </a:rPr>
              <a:t>dim_date</a:t>
            </a:r>
            <a:endParaRPr lang="en-GB" sz="2800" dirty="0">
              <a:solidFill>
                <a:prstClr val="black"/>
              </a:solidFill>
              <a:latin typeface="Calibri"/>
            </a:endParaRPr>
          </a:p>
          <a:p>
            <a:pPr marL="800100" lvl="1" indent="-342900" defTabSz="457200">
              <a:lnSpc>
                <a:spcPct val="100000"/>
              </a:lnSpc>
              <a:spcBef>
                <a:spcPct val="20000"/>
              </a:spcBef>
              <a:buFont typeface="Arial"/>
              <a:buChar char="•"/>
            </a:pPr>
            <a:r>
              <a:rPr lang="en-GB" sz="2800" dirty="0" err="1">
                <a:solidFill>
                  <a:prstClr val="black"/>
                </a:solidFill>
                <a:latin typeface="Calibri"/>
              </a:rPr>
              <a:t>dim_customer</a:t>
            </a:r>
            <a:endParaRPr lang="en-GB" sz="2800" dirty="0">
              <a:solidFill>
                <a:prstClr val="black"/>
              </a:solidFill>
              <a:latin typeface="Calibri"/>
            </a:endParaRPr>
          </a:p>
          <a:p>
            <a:pPr marL="800100" lvl="1" indent="-342900" defTabSz="457200">
              <a:lnSpc>
                <a:spcPct val="100000"/>
              </a:lnSpc>
              <a:spcBef>
                <a:spcPct val="20000"/>
              </a:spcBef>
              <a:buFont typeface="Arial"/>
              <a:buChar char="•"/>
            </a:pPr>
            <a:r>
              <a:rPr lang="en-GB" sz="2800" dirty="0" err="1">
                <a:solidFill>
                  <a:prstClr val="black"/>
                </a:solidFill>
                <a:latin typeface="Calibri"/>
              </a:rPr>
              <a:t>dim_vehicle</a:t>
            </a:r>
            <a:endParaRPr lang="en-GB" sz="2800" dirty="0">
              <a:solidFill>
                <a:prstClr val="black"/>
              </a:solidFill>
              <a:latin typeface="Calibri"/>
            </a:endParaRPr>
          </a:p>
          <a:p>
            <a:pPr marL="800100" lvl="1" indent="-342900" defTabSz="457200">
              <a:lnSpc>
                <a:spcPct val="100000"/>
              </a:lnSpc>
              <a:spcBef>
                <a:spcPct val="20000"/>
              </a:spcBef>
              <a:buFont typeface="Arial"/>
              <a:buChar char="•"/>
            </a:pPr>
            <a:r>
              <a:rPr lang="en-GB" sz="2800" dirty="0" err="1">
                <a:solidFill>
                  <a:prstClr val="black"/>
                </a:solidFill>
                <a:latin typeface="Calibri"/>
              </a:rPr>
              <a:t>dim_location</a:t>
            </a:r>
            <a:endParaRPr lang="en-GB" sz="2800" dirty="0">
              <a:solidFill>
                <a:prstClr val="black"/>
              </a:solidFill>
              <a:latin typeface="Calibri"/>
            </a:endParaRPr>
          </a:p>
          <a:p>
            <a:pPr marL="800100" lvl="1" indent="-342900" defTabSz="457200">
              <a:lnSpc>
                <a:spcPct val="100000"/>
              </a:lnSpc>
              <a:spcBef>
                <a:spcPct val="20000"/>
              </a:spcBef>
              <a:buFont typeface="Arial"/>
              <a:buChar char="•"/>
            </a:pPr>
            <a:r>
              <a:rPr lang="en-GB" sz="2800" dirty="0" err="1">
                <a:solidFill>
                  <a:prstClr val="black"/>
                </a:solidFill>
                <a:latin typeface="Calibri"/>
              </a:rPr>
              <a:t>dim_payment</a:t>
            </a:r>
            <a:endParaRPr lang="en-GB" sz="2800" dirty="0">
              <a:solidFill>
                <a:prstClr val="black"/>
              </a:solidFill>
              <a:latin typeface="Calibri"/>
            </a:endParaRPr>
          </a:p>
          <a:p>
            <a:pPr marL="800100" lvl="1" indent="-342900" defTabSz="457200">
              <a:lnSpc>
                <a:spcPct val="100000"/>
              </a:lnSpc>
              <a:spcBef>
                <a:spcPct val="20000"/>
              </a:spcBef>
              <a:buFont typeface="Arial"/>
              <a:buChar char="•"/>
            </a:pPr>
            <a:r>
              <a:rPr lang="en-GB" sz="2800" dirty="0" err="1">
                <a:solidFill>
                  <a:prstClr val="black"/>
                </a:solidFill>
                <a:latin typeface="Calibri"/>
              </a:rPr>
              <a:t>dim_reason</a:t>
            </a:r>
            <a:endParaRPr lang="en-GB" sz="2800" dirty="0">
              <a:solidFill>
                <a:prstClr val="black"/>
              </a:solidFill>
              <a:latin typeface="Calibri"/>
            </a:endParaRPr>
          </a:p>
          <a:p>
            <a:pPr marL="342900" lvl="0" indent="-342900" defTabSz="457200">
              <a:lnSpc>
                <a:spcPct val="100000"/>
              </a:lnSpc>
              <a:spcBef>
                <a:spcPct val="20000"/>
              </a:spcBef>
              <a:buFont typeface="Arial"/>
              <a:buChar char="•"/>
            </a:pPr>
            <a:endParaRPr lang="en-GB" sz="3200" dirty="0">
              <a:solidFill>
                <a:prstClr val="black"/>
              </a:solidFill>
              <a:latin typeface="Calibri"/>
            </a:endParaRPr>
          </a:p>
          <a:p>
            <a:pPr marL="0" lvl="0" indent="0" defTabSz="457200">
              <a:lnSpc>
                <a:spcPct val="100000"/>
              </a:lnSpc>
              <a:spcBef>
                <a:spcPct val="20000"/>
              </a:spcBef>
              <a:buNone/>
            </a:pPr>
            <a:r>
              <a:rPr lang="en-GB" sz="3200" dirty="0">
                <a:solidFill>
                  <a:prstClr val="black"/>
                </a:solidFill>
                <a:latin typeface="Calibri"/>
              </a:rPr>
              <a:t>This structure optimizes analytical queries and reporting.</a:t>
            </a:r>
          </a:p>
        </p:txBody>
      </p:sp>
      <p:pic>
        <p:nvPicPr>
          <p:cNvPr id="13" name="Content Placeholder 12" descr="A diagram of a vehicle status&#10;&#10;AI-generated content may be incorrect.">
            <a:extLst>
              <a:ext uri="{FF2B5EF4-FFF2-40B4-BE49-F238E27FC236}">
                <a16:creationId xmlns:a16="http://schemas.microsoft.com/office/drawing/2014/main" id="{8A723208-7211-9FFA-293F-BA249001C0B7}"/>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540596" y="1847086"/>
            <a:ext cx="5181600" cy="4184892"/>
          </a:xfrm>
        </p:spPr>
      </p:pic>
    </p:spTree>
    <p:extLst>
      <p:ext uri="{BB962C8B-B14F-4D97-AF65-F5344CB8AC3E}">
        <p14:creationId xmlns:p14="http://schemas.microsoft.com/office/powerpoint/2010/main" val="37497334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6177621-4AF2-3544-17F3-31E57B90E433}"/>
              </a:ext>
            </a:extLst>
          </p:cNvPr>
          <p:cNvSpPr>
            <a:spLocks noGrp="1"/>
          </p:cNvSpPr>
          <p:nvPr>
            <p:ph type="ctrTitle"/>
          </p:nvPr>
        </p:nvSpPr>
        <p:spPr>
          <a:xfrm>
            <a:off x="277091" y="1814321"/>
            <a:ext cx="7772400" cy="4560920"/>
          </a:xfrm>
        </p:spPr>
        <p:txBody>
          <a:bodyPr anchor="b">
            <a:normAutofit/>
          </a:bodyPr>
          <a:lstStyle/>
          <a:p>
            <a:pPr algn="l"/>
            <a:r>
              <a:rPr lang="en-GB" sz="7400"/>
              <a:t>Implementation Details and Challenges</a:t>
            </a:r>
          </a:p>
        </p:txBody>
      </p:sp>
    </p:spTree>
    <p:extLst>
      <p:ext uri="{BB962C8B-B14F-4D97-AF65-F5344CB8AC3E}">
        <p14:creationId xmlns:p14="http://schemas.microsoft.com/office/powerpoint/2010/main" val="256163760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5" name="Content Placeholder 4">
            <a:extLst>
              <a:ext uri="{FF2B5EF4-FFF2-40B4-BE49-F238E27FC236}">
                <a16:creationId xmlns:a16="http://schemas.microsoft.com/office/drawing/2014/main" id="{E2BC245F-5962-186D-9401-624C3F77A6D1}"/>
              </a:ext>
            </a:extLst>
          </p:cNvPr>
          <p:cNvSpPr>
            <a:spLocks noGrp="1"/>
          </p:cNvSpPr>
          <p:nvPr>
            <p:ph idx="1"/>
          </p:nvPr>
        </p:nvSpPr>
        <p:spPr>
          <a:xfrm>
            <a:off x="3505200" y="1181928"/>
            <a:ext cx="7848600" cy="4203700"/>
          </a:xfrm>
        </p:spPr>
        <p:txBody>
          <a:bodyPr>
            <a:normAutofit/>
          </a:bodyPr>
          <a:lstStyle/>
          <a:p>
            <a:r>
              <a:rPr lang="en-GB" dirty="0"/>
              <a:t>Reads raw Uber CSV from Google Drive.</a:t>
            </a:r>
          </a:p>
          <a:p>
            <a:r>
              <a:rPr lang="en-GB" dirty="0"/>
              <a:t>Uploads file to staging bucket in Azure.</a:t>
            </a:r>
          </a:p>
          <a:p>
            <a:endParaRPr lang="en-GB" dirty="0"/>
          </a:p>
          <a:p>
            <a:r>
              <a:rPr lang="en-GB" dirty="0"/>
              <a:t>Code Snippet:</a:t>
            </a:r>
          </a:p>
          <a:p>
            <a:pPr marL="0" indent="0">
              <a:buNone/>
            </a:pPr>
            <a:r>
              <a:rPr lang="en-GB" sz="1200" i="1" dirty="0"/>
              <a:t>from </a:t>
            </a:r>
            <a:r>
              <a:rPr lang="en-GB" sz="1200" i="1" dirty="0" err="1"/>
              <a:t>google.cloud</a:t>
            </a:r>
            <a:r>
              <a:rPr lang="en-GB" sz="1200" i="1" dirty="0"/>
              <a:t> import storage</a:t>
            </a:r>
          </a:p>
          <a:p>
            <a:pPr marL="0" indent="0">
              <a:buNone/>
            </a:pPr>
            <a:r>
              <a:rPr lang="en-GB" sz="1200" i="1" dirty="0"/>
              <a:t>def </a:t>
            </a:r>
            <a:r>
              <a:rPr lang="en-GB" sz="1200" i="1" dirty="0" err="1"/>
              <a:t>upload_to_gcs</a:t>
            </a:r>
            <a:r>
              <a:rPr lang="en-GB" sz="1200" i="1" dirty="0"/>
              <a:t>(</a:t>
            </a:r>
            <a:r>
              <a:rPr lang="en-GB" sz="1200" i="1" dirty="0" err="1"/>
              <a:t>bucket_name</a:t>
            </a:r>
            <a:r>
              <a:rPr lang="en-GB" sz="1200" i="1" dirty="0"/>
              <a:t>, </a:t>
            </a:r>
            <a:r>
              <a:rPr lang="en-GB" sz="1200" i="1" dirty="0" err="1"/>
              <a:t>source_file</a:t>
            </a:r>
            <a:r>
              <a:rPr lang="en-GB" sz="1200" i="1" dirty="0"/>
              <a:t>, </a:t>
            </a:r>
            <a:r>
              <a:rPr lang="en-GB" sz="1200" i="1" dirty="0" err="1"/>
              <a:t>destination_blob</a:t>
            </a:r>
            <a:r>
              <a:rPr lang="en-GB" sz="1200" i="1" dirty="0"/>
              <a:t>):</a:t>
            </a:r>
          </a:p>
          <a:p>
            <a:pPr marL="457200" lvl="1" indent="0">
              <a:buNone/>
            </a:pPr>
            <a:r>
              <a:rPr lang="en-GB" sz="1200" i="1" dirty="0"/>
              <a:t>client = </a:t>
            </a:r>
            <a:r>
              <a:rPr lang="en-GB" sz="1200" i="1" dirty="0" err="1"/>
              <a:t>storage.Client</a:t>
            </a:r>
            <a:r>
              <a:rPr lang="en-GB" sz="1200" i="1" dirty="0"/>
              <a:t>()</a:t>
            </a:r>
          </a:p>
          <a:p>
            <a:pPr marL="457200" lvl="1" indent="0">
              <a:buNone/>
            </a:pPr>
            <a:r>
              <a:rPr lang="en-GB" sz="1200" i="1" dirty="0"/>
              <a:t>bucket = </a:t>
            </a:r>
            <a:r>
              <a:rPr lang="en-GB" sz="1200" i="1" dirty="0" err="1"/>
              <a:t>client.bucket</a:t>
            </a:r>
            <a:r>
              <a:rPr lang="en-GB" sz="1200" i="1" dirty="0"/>
              <a:t>(</a:t>
            </a:r>
            <a:r>
              <a:rPr lang="en-GB" sz="1200" i="1" dirty="0" err="1"/>
              <a:t>bucket_name</a:t>
            </a:r>
            <a:r>
              <a:rPr lang="en-GB" sz="1200" i="1" dirty="0"/>
              <a:t>)</a:t>
            </a:r>
          </a:p>
          <a:p>
            <a:pPr marL="457200" lvl="1" indent="0">
              <a:buNone/>
            </a:pPr>
            <a:r>
              <a:rPr lang="en-GB" sz="1200" i="1" dirty="0"/>
              <a:t>blob = </a:t>
            </a:r>
            <a:r>
              <a:rPr lang="en-GB" sz="1200" i="1" dirty="0" err="1"/>
              <a:t>bucket.blob</a:t>
            </a:r>
            <a:r>
              <a:rPr lang="en-GB" sz="1200" i="1" dirty="0"/>
              <a:t>(</a:t>
            </a:r>
            <a:r>
              <a:rPr lang="en-GB" sz="1200" i="1" dirty="0" err="1"/>
              <a:t>destination_blob</a:t>
            </a:r>
            <a:r>
              <a:rPr lang="en-GB" sz="1200" i="1" dirty="0"/>
              <a:t>)</a:t>
            </a:r>
          </a:p>
          <a:p>
            <a:pPr marL="457200" lvl="1" indent="0">
              <a:buNone/>
            </a:pPr>
            <a:r>
              <a:rPr lang="en-GB" sz="1200" i="1" dirty="0" err="1"/>
              <a:t>blob.upload_from_filename</a:t>
            </a:r>
            <a:r>
              <a:rPr lang="en-GB" sz="1200" i="1" dirty="0"/>
              <a:t>(</a:t>
            </a:r>
            <a:r>
              <a:rPr lang="en-GB" sz="1200" i="1" dirty="0" err="1"/>
              <a:t>source_file</a:t>
            </a:r>
            <a:r>
              <a:rPr lang="en-GB" sz="1200" i="1" dirty="0"/>
              <a:t>)</a:t>
            </a:r>
          </a:p>
          <a:p>
            <a:pPr marL="457200" lvl="1" indent="0">
              <a:buNone/>
            </a:pPr>
            <a:r>
              <a:rPr lang="en-GB" sz="1200" i="1" dirty="0"/>
              <a:t>print(f'{</a:t>
            </a:r>
            <a:r>
              <a:rPr lang="en-GB" sz="1200" i="1" dirty="0" err="1"/>
              <a:t>source_file</a:t>
            </a:r>
            <a:r>
              <a:rPr lang="en-GB" sz="1200" i="1" dirty="0"/>
              <a:t>} uploaded to {</a:t>
            </a:r>
            <a:r>
              <a:rPr lang="en-GB" sz="1200" i="1" dirty="0" err="1"/>
              <a:t>destination_blob</a:t>
            </a:r>
            <a:r>
              <a:rPr lang="en-GB" sz="1200" i="1" dirty="0"/>
              <a:t>}')</a:t>
            </a:r>
          </a:p>
          <a:p>
            <a:endParaRPr lang="en-GB" dirty="0"/>
          </a:p>
        </p:txBody>
      </p:sp>
      <p:sp>
        <p:nvSpPr>
          <p:cNvPr id="6" name="Title 1">
            <a:extLst>
              <a:ext uri="{FF2B5EF4-FFF2-40B4-BE49-F238E27FC236}">
                <a16:creationId xmlns:a16="http://schemas.microsoft.com/office/drawing/2014/main" id="{2E104553-04D3-EFB1-7C79-BEE46E791801}"/>
              </a:ext>
            </a:extLst>
          </p:cNvPr>
          <p:cNvSpPr txBox="1">
            <a:spLocks/>
          </p:cNvSpPr>
          <p:nvPr/>
        </p:nvSpPr>
        <p:spPr>
          <a:xfrm>
            <a:off x="276199" y="3052829"/>
            <a:ext cx="3229002" cy="116357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t>Data Extraction</a:t>
            </a:r>
            <a:br>
              <a:rPr lang="en-US" sz="3600" b="1" dirty="0"/>
            </a:br>
            <a:r>
              <a:rPr lang="en-US" sz="3600" i="1" dirty="0"/>
              <a:t>(</a:t>
            </a:r>
            <a:r>
              <a:rPr lang="en-US" sz="3600" i="1" dirty="0" err="1"/>
              <a:t>extraction.py</a:t>
            </a:r>
            <a:r>
              <a:rPr lang="en-US" sz="3600" i="1" dirty="0"/>
              <a:t>)</a:t>
            </a:r>
          </a:p>
        </p:txBody>
      </p:sp>
    </p:spTree>
    <p:extLst>
      <p:ext uri="{BB962C8B-B14F-4D97-AF65-F5344CB8AC3E}">
        <p14:creationId xmlns:p14="http://schemas.microsoft.com/office/powerpoint/2010/main" val="221056470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82202F-4714-A391-1486-969879711764}"/>
              </a:ext>
            </a:extLst>
          </p:cNvPr>
          <p:cNvSpPr>
            <a:spLocks noGrp="1"/>
          </p:cNvSpPr>
          <p:nvPr>
            <p:ph type="title"/>
          </p:nvPr>
        </p:nvSpPr>
        <p:spPr>
          <a:xfrm>
            <a:off x="612648" y="4012141"/>
            <a:ext cx="4781603" cy="2332799"/>
          </a:xfrm>
        </p:spPr>
        <p:txBody>
          <a:bodyPr vert="horz" lIns="91440" tIns="45720" rIns="91440" bIns="45720" rtlCol="0" anchor="t">
            <a:normAutofit/>
          </a:bodyPr>
          <a:lstStyle/>
          <a:p>
            <a:r>
              <a:rPr lang="en-US" sz="3600" b="1" kern="1200" dirty="0">
                <a:solidFill>
                  <a:schemeClr val="tx1"/>
                </a:solidFill>
                <a:latin typeface="+mj-lt"/>
                <a:ea typeface="+mj-ea"/>
                <a:cs typeface="+mj-cs"/>
              </a:rPr>
              <a:t>Data Transformation, Cleaning, and Enrichment Techniques </a:t>
            </a:r>
            <a:r>
              <a:rPr lang="en-US" sz="3600" i="1" kern="1200" dirty="0">
                <a:solidFill>
                  <a:schemeClr val="tx1"/>
                </a:solidFill>
                <a:latin typeface="+mj-lt"/>
                <a:ea typeface="+mj-ea"/>
                <a:cs typeface="+mj-cs"/>
              </a:rPr>
              <a:t>(</a:t>
            </a:r>
            <a:r>
              <a:rPr lang="en-US" sz="3600" i="1" kern="1200" dirty="0" err="1">
                <a:solidFill>
                  <a:schemeClr val="tx1"/>
                </a:solidFill>
                <a:latin typeface="+mj-lt"/>
                <a:ea typeface="+mj-ea"/>
                <a:cs typeface="+mj-cs"/>
              </a:rPr>
              <a:t>transformation.py</a:t>
            </a:r>
            <a:r>
              <a:rPr lang="en-US" sz="3600" i="1" kern="1200" dirty="0">
                <a:solidFill>
                  <a:schemeClr val="tx1"/>
                </a:solidFill>
                <a:latin typeface="+mj-lt"/>
                <a:ea typeface="+mj-ea"/>
                <a:cs typeface="+mj-cs"/>
              </a:rPr>
              <a:t>) </a:t>
            </a:r>
          </a:p>
        </p:txBody>
      </p:sp>
      <p:pic>
        <p:nvPicPr>
          <p:cNvPr id="5" name="Content Placeholder 4" descr="Internet Network of Connected Devices and Apps.">
            <a:extLst>
              <a:ext uri="{FF2B5EF4-FFF2-40B4-BE49-F238E27FC236}">
                <a16:creationId xmlns:a16="http://schemas.microsoft.com/office/drawing/2014/main" id="{0B3E8457-4E98-4E27-84ED-E145A369A67B}"/>
              </a:ext>
            </a:extLst>
          </p:cNvPr>
          <p:cNvPicPr>
            <a:picLocks noGrp="1" noChangeAspect="1"/>
          </p:cNvPicPr>
          <p:nvPr>
            <p:ph sz="half" idx="1"/>
          </p:nvPr>
        </p:nvPicPr>
        <p:blipFill>
          <a:blip r:embed="rId3"/>
          <a:srcRect t="1254" r="3" b="44"/>
          <a:stretch>
            <a:fillRect/>
          </a:stretch>
        </p:blipFill>
        <p:spPr>
          <a:xfrm>
            <a:off x="713615" y="681318"/>
            <a:ext cx="4680637" cy="3083858"/>
          </a:xfrm>
          <a:prstGeom prst="rect">
            <a:avLst/>
          </a:prstGeom>
        </p:spPr>
      </p:pic>
      <p:sp>
        <p:nvSpPr>
          <p:cNvPr id="4" name="Content Placeholder 3">
            <a:extLst>
              <a:ext uri="{FF2B5EF4-FFF2-40B4-BE49-F238E27FC236}">
                <a16:creationId xmlns:a16="http://schemas.microsoft.com/office/drawing/2014/main" id="{EAA894C9-0F2B-151B-F1C9-3BA81FB98E8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0" y="548639"/>
            <a:ext cx="5548802" cy="2969261"/>
          </a:xfrm>
        </p:spPr>
        <p:txBody>
          <a:bodyPr>
            <a:normAutofit/>
          </a:bodyPr>
          <a:lstStyle/>
          <a:p>
            <a:pPr marL="0" indent="0">
              <a:spcBef>
                <a:spcPts val="2500"/>
              </a:spcBef>
              <a:buFont typeface="Arial" panose="020B0604020202020204" pitchFamily="34" charset="0"/>
              <a:buNone/>
            </a:pPr>
            <a:r>
              <a:rPr lang="en-GB" sz="1400" b="1" dirty="0"/>
              <a:t>Data Validation</a:t>
            </a:r>
          </a:p>
          <a:p>
            <a:pPr marL="0" lvl="1" indent="0">
              <a:buNone/>
            </a:pPr>
            <a:r>
              <a:rPr lang="en-GB" sz="1400" dirty="0"/>
              <a:t>Ensures data accuracy by checking for errors and inconsistencies before analysis. </a:t>
            </a:r>
            <a:r>
              <a:rPr lang="en-US" sz="1400" dirty="0"/>
              <a:t>Standardizes column names., Parses date + time into </a:t>
            </a:r>
            <a:r>
              <a:rPr lang="en-US" sz="1400" dirty="0" err="1"/>
              <a:t>date_id</a:t>
            </a:r>
            <a:r>
              <a:rPr lang="en-US" sz="1400" dirty="0"/>
              <a:t>, Normalizes categorical fields.</a:t>
            </a:r>
          </a:p>
          <a:p>
            <a:pPr marL="0" indent="0">
              <a:spcBef>
                <a:spcPts val="2500"/>
              </a:spcBef>
              <a:buFont typeface="Arial" panose="020B0604020202020204" pitchFamily="34" charset="0"/>
              <a:buNone/>
            </a:pPr>
            <a:r>
              <a:rPr lang="en-GB" sz="1400" b="1" dirty="0"/>
              <a:t>Deduplication</a:t>
            </a:r>
          </a:p>
          <a:p>
            <a:pPr marL="0" lvl="1" indent="0">
              <a:buFont typeface="Arial" panose="020B0604020202020204" pitchFamily="34" charset="0"/>
              <a:buNone/>
            </a:pPr>
            <a:r>
              <a:rPr lang="en-GB" sz="1400" dirty="0"/>
              <a:t>Removes duplicate records to maintain data integrity and reduce redundancy.</a:t>
            </a:r>
          </a:p>
          <a:p>
            <a:pPr marL="0" indent="0">
              <a:spcBef>
                <a:spcPts val="2500"/>
              </a:spcBef>
              <a:buFont typeface="Arial" panose="020B0604020202020204" pitchFamily="34" charset="0"/>
              <a:buNone/>
            </a:pPr>
            <a:r>
              <a:rPr lang="en-GB" sz="1400" b="1" dirty="0"/>
              <a:t>Normalization</a:t>
            </a:r>
          </a:p>
          <a:p>
            <a:pPr marL="0" lvl="1" indent="0">
              <a:buFont typeface="Arial" panose="020B0604020202020204" pitchFamily="34" charset="0"/>
              <a:buNone/>
            </a:pPr>
            <a:r>
              <a:rPr lang="en-GB" sz="1400" dirty="0"/>
              <a:t>Standardizes data formats to ensure consistency across datasets for better analysis.</a:t>
            </a:r>
          </a:p>
        </p:txBody>
      </p:sp>
      <p:sp>
        <p:nvSpPr>
          <p:cNvPr id="8" name="TextBox 7">
            <a:extLst>
              <a:ext uri="{FF2B5EF4-FFF2-40B4-BE49-F238E27FC236}">
                <a16:creationId xmlns:a16="http://schemas.microsoft.com/office/drawing/2014/main" id="{1C1066E4-D9E9-C9E6-EA27-EFD40ACF59CA}"/>
              </a:ext>
            </a:extLst>
          </p:cNvPr>
          <p:cNvSpPr txBox="1"/>
          <p:nvPr/>
        </p:nvSpPr>
        <p:spPr>
          <a:xfrm>
            <a:off x="6214753" y="4524257"/>
            <a:ext cx="5364599" cy="1785104"/>
          </a:xfrm>
          <a:prstGeom prst="rect">
            <a:avLst/>
          </a:prstGeom>
          <a:noFill/>
        </p:spPr>
        <p:txBody>
          <a:bodyPr wrap="square">
            <a:spAutoFit/>
          </a:bodyPr>
          <a:lstStyle/>
          <a:p>
            <a:r>
              <a:rPr lang="en-GB" sz="1100" i="1" dirty="0"/>
              <a:t>Code Snippet:</a:t>
            </a:r>
          </a:p>
          <a:p>
            <a:r>
              <a:rPr lang="en-GB" sz="1100" i="1" dirty="0"/>
              <a:t>def </a:t>
            </a:r>
            <a:r>
              <a:rPr lang="en-GB" sz="1100" i="1" dirty="0" err="1"/>
              <a:t>standardize_columns</a:t>
            </a:r>
            <a:r>
              <a:rPr lang="en-GB" sz="1100" i="1" dirty="0"/>
              <a:t>(row):</a:t>
            </a:r>
          </a:p>
          <a:p>
            <a:r>
              <a:rPr lang="en-GB" sz="1100" i="1" dirty="0"/>
              <a:t>    </a:t>
            </a:r>
            <a:r>
              <a:rPr lang="en-GB" sz="1100" i="1" dirty="0" err="1"/>
              <a:t>new_row</a:t>
            </a:r>
            <a:r>
              <a:rPr lang="en-GB" sz="1100" i="1" dirty="0"/>
              <a:t> = {</a:t>
            </a:r>
            <a:r>
              <a:rPr lang="en-GB" sz="1100" i="1" dirty="0" err="1"/>
              <a:t>k.strip</a:t>
            </a:r>
            <a:r>
              <a:rPr lang="en-GB" sz="1100" i="1" dirty="0"/>
              <a:t>().lower().replace(' ', '_'): v for k, v in 	</a:t>
            </a:r>
            <a:r>
              <a:rPr lang="en-GB" sz="1100" i="1" dirty="0" err="1"/>
              <a:t>row.items</a:t>
            </a:r>
            <a:r>
              <a:rPr lang="en-GB" sz="1100" i="1" dirty="0"/>
              <a:t>()}</a:t>
            </a:r>
          </a:p>
          <a:p>
            <a:r>
              <a:rPr lang="en-GB" sz="1100" i="1" dirty="0"/>
              <a:t>    return </a:t>
            </a:r>
            <a:r>
              <a:rPr lang="en-GB" sz="1100" i="1" dirty="0" err="1"/>
              <a:t>new_row</a:t>
            </a:r>
            <a:endParaRPr lang="en-GB" sz="1100" i="1" dirty="0"/>
          </a:p>
          <a:p>
            <a:endParaRPr lang="en-GB" sz="1100" i="1" dirty="0"/>
          </a:p>
          <a:p>
            <a:r>
              <a:rPr lang="en-GB" sz="1100" i="1" dirty="0"/>
              <a:t>def </a:t>
            </a:r>
            <a:r>
              <a:rPr lang="en-GB" sz="1100" i="1" dirty="0" err="1"/>
              <a:t>parse_datetime</a:t>
            </a:r>
            <a:r>
              <a:rPr lang="en-GB" sz="1100" i="1" dirty="0"/>
              <a:t>(row):</a:t>
            </a:r>
          </a:p>
          <a:p>
            <a:r>
              <a:rPr lang="en-GB" sz="1100" i="1" dirty="0"/>
              <a:t>    	</a:t>
            </a:r>
            <a:r>
              <a:rPr lang="en-GB" sz="1100" i="1" dirty="0" err="1"/>
              <a:t>ts</a:t>
            </a:r>
            <a:r>
              <a:rPr lang="en-GB" sz="1100" i="1" dirty="0"/>
              <a:t> = </a:t>
            </a:r>
            <a:r>
              <a:rPr lang="en-GB" sz="1100" i="1" dirty="0" err="1"/>
              <a:t>datetime.strptime</a:t>
            </a:r>
            <a:r>
              <a:rPr lang="en-GB" sz="1100" i="1" dirty="0"/>
              <a:t>(f"{row['date']} {row['time']}", 	"%Y-%m-%d %H:%M:%S")</a:t>
            </a:r>
          </a:p>
          <a:p>
            <a:r>
              <a:rPr lang="en-GB" sz="1100" i="1" dirty="0"/>
              <a:t>   	row['</a:t>
            </a:r>
            <a:r>
              <a:rPr lang="en-GB" sz="1100" i="1" dirty="0" err="1"/>
              <a:t>date_id</a:t>
            </a:r>
            <a:r>
              <a:rPr lang="en-GB" sz="1100" i="1" dirty="0"/>
              <a:t>'] = int(</a:t>
            </a:r>
            <a:r>
              <a:rPr lang="en-GB" sz="1100" i="1" dirty="0" err="1"/>
              <a:t>ts.strftime</a:t>
            </a:r>
            <a:r>
              <a:rPr lang="en-GB" sz="1100" i="1" dirty="0"/>
              <a:t>('%</a:t>
            </a:r>
            <a:r>
              <a:rPr lang="en-GB" sz="1100" i="1" dirty="0" err="1"/>
              <a:t>Y%m%d</a:t>
            </a:r>
            <a:r>
              <a:rPr lang="en-GB" sz="1100" i="1" dirty="0"/>
              <a:t>'))</a:t>
            </a:r>
          </a:p>
          <a:p>
            <a:r>
              <a:rPr lang="en-GB" sz="1100" i="1" dirty="0"/>
              <a:t>    return row</a:t>
            </a:r>
          </a:p>
        </p:txBody>
      </p:sp>
    </p:spTree>
    <p:extLst>
      <p:ext uri="{BB962C8B-B14F-4D97-AF65-F5344CB8AC3E}">
        <p14:creationId xmlns:p14="http://schemas.microsoft.com/office/powerpoint/2010/main" val="3789076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CE9D30-EBC3-A701-E2D8-03EB13E6DB30}"/>
              </a:ext>
            </a:extLst>
          </p:cNvPr>
          <p:cNvSpPr>
            <a:spLocks noGrp="1"/>
          </p:cNvSpPr>
          <p:nvPr>
            <p:ph type="title"/>
          </p:nvPr>
        </p:nvSpPr>
        <p:spPr>
          <a:xfrm>
            <a:off x="612648" y="600074"/>
            <a:ext cx="6035040" cy="555626"/>
          </a:xfrm>
        </p:spPr>
        <p:txBody>
          <a:bodyPr vert="horz" lIns="91440" tIns="45720" rIns="91440" bIns="45720" rtlCol="0" anchor="b">
            <a:normAutofit/>
          </a:bodyPr>
          <a:lstStyle/>
          <a:p>
            <a:r>
              <a:rPr lang="en-US" sz="3300" b="1" kern="1200" dirty="0">
                <a:solidFill>
                  <a:schemeClr val="tx1"/>
                </a:solidFill>
                <a:latin typeface="+mj-lt"/>
                <a:ea typeface="+mj-ea"/>
                <a:cs typeface="+mj-cs"/>
              </a:rPr>
              <a:t>Loading (</a:t>
            </a:r>
            <a:r>
              <a:rPr lang="en-US" sz="3300" b="1" kern="1200" dirty="0" err="1">
                <a:solidFill>
                  <a:schemeClr val="tx1"/>
                </a:solidFill>
                <a:latin typeface="+mj-lt"/>
                <a:ea typeface="+mj-ea"/>
                <a:cs typeface="+mj-cs"/>
              </a:rPr>
              <a:t>loading.py</a:t>
            </a:r>
            <a:r>
              <a:rPr lang="en-US" sz="3300" b="1" kern="1200" dirty="0">
                <a:solidFill>
                  <a:schemeClr val="tx1"/>
                </a:solidFill>
                <a:latin typeface="+mj-lt"/>
                <a:ea typeface="+mj-ea"/>
                <a:cs typeface="+mj-cs"/>
              </a:rPr>
              <a:t>)</a:t>
            </a:r>
          </a:p>
        </p:txBody>
      </p:sp>
      <p:sp>
        <p:nvSpPr>
          <p:cNvPr id="4" name="Content Placeholder 3">
            <a:extLst>
              <a:ext uri="{FF2B5EF4-FFF2-40B4-BE49-F238E27FC236}">
                <a16:creationId xmlns:a16="http://schemas.microsoft.com/office/drawing/2014/main" id="{930110D3-5019-9304-FBE1-7456B78DA02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5320" y="1755774"/>
            <a:ext cx="6035041" cy="1343152"/>
          </a:xfrm>
        </p:spPr>
        <p:txBody>
          <a:bodyPr>
            <a:normAutofit/>
          </a:bodyPr>
          <a:lstStyle/>
          <a:p>
            <a:pPr marL="0" indent="0">
              <a:spcBef>
                <a:spcPts val="2500"/>
              </a:spcBef>
              <a:buNone/>
            </a:pPr>
            <a:r>
              <a:rPr lang="en-US" sz="1400" b="1" dirty="0"/>
              <a:t>Writes cleaned data, facts + dimensions to GCS.</a:t>
            </a:r>
          </a:p>
          <a:p>
            <a:pPr marL="0" indent="0">
              <a:spcBef>
                <a:spcPts val="2500"/>
              </a:spcBef>
              <a:buNone/>
            </a:pPr>
            <a:r>
              <a:rPr lang="en-US" sz="1400" b="1" dirty="0"/>
              <a:t>Loads dimensions + fact table into PostgreSQL.</a:t>
            </a:r>
          </a:p>
          <a:p>
            <a:pPr marL="0" indent="0">
              <a:spcBef>
                <a:spcPts val="2500"/>
              </a:spcBef>
              <a:buNone/>
            </a:pPr>
            <a:endParaRPr lang="en-US" sz="1400" b="1" dirty="0"/>
          </a:p>
        </p:txBody>
      </p:sp>
      <p:pic>
        <p:nvPicPr>
          <p:cNvPr id="5" name="Content Placeholder 4" descr="Download or upload files concept">
            <a:extLst>
              <a:ext uri="{FF2B5EF4-FFF2-40B4-BE49-F238E27FC236}">
                <a16:creationId xmlns:a16="http://schemas.microsoft.com/office/drawing/2014/main" id="{E35F5675-7F40-410E-8228-351D34D3F0D9}"/>
              </a:ext>
            </a:extLst>
          </p:cNvPr>
          <p:cNvPicPr>
            <a:picLocks noGrp="1" noChangeAspect="1"/>
          </p:cNvPicPr>
          <p:nvPr>
            <p:ph sz="half" idx="1"/>
          </p:nvPr>
        </p:nvPicPr>
        <p:blipFill>
          <a:blip r:embed="rId3"/>
          <a:srcRect l="21007" r="25993"/>
          <a:stretch>
            <a:fillRect/>
          </a:stretch>
        </p:blipFill>
        <p:spPr>
          <a:xfrm>
            <a:off x="7345680" y="10"/>
            <a:ext cx="4846320" cy="6857990"/>
          </a:xfrm>
          <a:prstGeom prst="rect">
            <a:avLst/>
          </a:prstGeom>
        </p:spPr>
      </p:pic>
      <p:sp>
        <p:nvSpPr>
          <p:cNvPr id="6" name="TextBox 5">
            <a:extLst>
              <a:ext uri="{FF2B5EF4-FFF2-40B4-BE49-F238E27FC236}">
                <a16:creationId xmlns:a16="http://schemas.microsoft.com/office/drawing/2014/main" id="{BDB542EB-E980-80EA-BE17-FC096A2C99FD}"/>
              </a:ext>
            </a:extLst>
          </p:cNvPr>
          <p:cNvSpPr txBox="1"/>
          <p:nvPr/>
        </p:nvSpPr>
        <p:spPr>
          <a:xfrm>
            <a:off x="749300" y="3395604"/>
            <a:ext cx="6096000" cy="2862322"/>
          </a:xfrm>
          <a:prstGeom prst="rect">
            <a:avLst/>
          </a:prstGeom>
          <a:noFill/>
        </p:spPr>
        <p:txBody>
          <a:bodyPr wrap="square">
            <a:spAutoFit/>
          </a:bodyPr>
          <a:lstStyle/>
          <a:p>
            <a:r>
              <a:rPr lang="en-GB" dirty="0"/>
              <a:t>Code Snippet:</a:t>
            </a:r>
          </a:p>
          <a:p>
            <a:r>
              <a:rPr lang="en-GB" dirty="0"/>
              <a:t>from </a:t>
            </a:r>
            <a:r>
              <a:rPr lang="en-GB" dirty="0" err="1"/>
              <a:t>google.cloud</a:t>
            </a:r>
            <a:r>
              <a:rPr lang="en-GB" dirty="0"/>
              <a:t> import </a:t>
            </a:r>
            <a:r>
              <a:rPr lang="en-GB" dirty="0" err="1"/>
              <a:t>bigquery</a:t>
            </a:r>
            <a:endParaRPr lang="en-GB" dirty="0"/>
          </a:p>
          <a:p>
            <a:endParaRPr lang="en-GB" dirty="0"/>
          </a:p>
          <a:p>
            <a:r>
              <a:rPr lang="en-GB" dirty="0"/>
              <a:t>def </a:t>
            </a:r>
            <a:r>
              <a:rPr lang="en-GB" dirty="0" err="1"/>
              <a:t>load_to_bq</a:t>
            </a:r>
            <a:r>
              <a:rPr lang="en-GB" dirty="0"/>
              <a:t>(</a:t>
            </a:r>
            <a:r>
              <a:rPr lang="en-GB" dirty="0" err="1"/>
              <a:t>table_id</a:t>
            </a:r>
            <a:r>
              <a:rPr lang="en-GB" dirty="0"/>
              <a:t>, rows, schema):</a:t>
            </a:r>
          </a:p>
          <a:p>
            <a:r>
              <a:rPr lang="en-GB" dirty="0"/>
              <a:t>    client = </a:t>
            </a:r>
            <a:r>
              <a:rPr lang="en-GB" dirty="0" err="1"/>
              <a:t>bigquery.Client</a:t>
            </a:r>
            <a:r>
              <a:rPr lang="en-GB" dirty="0"/>
              <a:t>()</a:t>
            </a:r>
          </a:p>
          <a:p>
            <a:r>
              <a:rPr lang="en-GB" dirty="0"/>
              <a:t>    errors = </a:t>
            </a:r>
            <a:r>
              <a:rPr lang="en-GB" dirty="0" err="1"/>
              <a:t>client.insert_rows_json</a:t>
            </a:r>
            <a:r>
              <a:rPr lang="en-GB" dirty="0"/>
              <a:t>(</a:t>
            </a:r>
            <a:r>
              <a:rPr lang="en-GB" dirty="0" err="1"/>
              <a:t>table_id</a:t>
            </a:r>
            <a:r>
              <a:rPr lang="en-GB" dirty="0"/>
              <a:t>, rows)</a:t>
            </a:r>
          </a:p>
          <a:p>
            <a:r>
              <a:rPr lang="en-GB" dirty="0"/>
              <a:t>    if errors:</a:t>
            </a:r>
          </a:p>
          <a:p>
            <a:r>
              <a:rPr lang="en-GB" dirty="0"/>
              <a:t>        print('Errors:', errors)</a:t>
            </a:r>
          </a:p>
          <a:p>
            <a:r>
              <a:rPr lang="en-GB" dirty="0"/>
              <a:t>    else:</a:t>
            </a:r>
          </a:p>
          <a:p>
            <a:r>
              <a:rPr lang="en-GB" dirty="0"/>
              <a:t>        print(</a:t>
            </a:r>
            <a:r>
              <a:rPr lang="en-GB" dirty="0" err="1"/>
              <a:t>f'Loaded</a:t>
            </a:r>
            <a:r>
              <a:rPr lang="en-GB" dirty="0"/>
              <a:t> {len(rows)} rows into {</a:t>
            </a:r>
            <a:r>
              <a:rPr lang="en-GB" dirty="0" err="1"/>
              <a:t>table_id</a:t>
            </a:r>
            <a:r>
              <a:rPr lang="en-GB" dirty="0"/>
              <a:t>}')</a:t>
            </a:r>
          </a:p>
        </p:txBody>
      </p:sp>
    </p:spTree>
    <p:extLst>
      <p:ext uri="{BB962C8B-B14F-4D97-AF65-F5344CB8AC3E}">
        <p14:creationId xmlns:p14="http://schemas.microsoft.com/office/powerpoint/2010/main" val="11893974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70D877-7AA1-E8AA-B63E-363DBFC2438A}"/>
              </a:ext>
            </a:extLst>
          </p:cNvPr>
          <p:cNvSpPr>
            <a:spLocks noGrp="1"/>
          </p:cNvSpPr>
          <p:nvPr>
            <p:ph type="title"/>
          </p:nvPr>
        </p:nvSpPr>
        <p:spPr>
          <a:xfrm>
            <a:off x="397681" y="635000"/>
            <a:ext cx="2958085" cy="3777996"/>
          </a:xfrm>
        </p:spPr>
        <p:txBody>
          <a:bodyPr vert="horz" lIns="91440" tIns="45720" rIns="91440" bIns="45720" rtlCol="0" anchor="b">
            <a:normAutofit/>
          </a:bodyPr>
          <a:lstStyle/>
          <a:p>
            <a:r>
              <a:rPr lang="en-US" sz="3600" b="1" kern="1200" dirty="0">
                <a:solidFill>
                  <a:schemeClr val="tx1"/>
                </a:solidFill>
                <a:latin typeface="+mj-lt"/>
                <a:ea typeface="+mj-ea"/>
                <a:cs typeface="+mj-cs"/>
              </a:rPr>
              <a:t>Data Workflow and Orchestration Strategies:  Airflow Orchestration (uber_dag.py)</a:t>
            </a:r>
          </a:p>
        </p:txBody>
      </p:sp>
      <p:sp>
        <p:nvSpPr>
          <p:cNvPr id="4" name="Content Placeholder 3">
            <a:extLst>
              <a:ext uri="{FF2B5EF4-FFF2-40B4-BE49-F238E27FC236}">
                <a16:creationId xmlns:a16="http://schemas.microsoft.com/office/drawing/2014/main" id="{81D60B6D-3D99-8D6B-A466-706641803CC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83381" y="4514561"/>
            <a:ext cx="5164919" cy="1708439"/>
          </a:xfrm>
        </p:spPr>
        <p:txBody>
          <a:bodyPr>
            <a:normAutofit/>
          </a:bodyPr>
          <a:lstStyle/>
          <a:p>
            <a:pPr marL="0" indent="0">
              <a:spcBef>
                <a:spcPts val="2500"/>
              </a:spcBef>
              <a:buNone/>
            </a:pPr>
            <a:r>
              <a:rPr lang="en-US" sz="1400" b="1" dirty="0"/>
              <a:t>Automates ETL steps.</a:t>
            </a:r>
          </a:p>
          <a:p>
            <a:pPr marL="0" indent="0">
              <a:spcBef>
                <a:spcPts val="2500"/>
              </a:spcBef>
              <a:buNone/>
            </a:pPr>
            <a:r>
              <a:rPr lang="en-US" sz="1400" b="1" dirty="0"/>
              <a:t>Defines DAG with dependencies: extract → transform → load.</a:t>
            </a:r>
          </a:p>
          <a:p>
            <a:pPr marL="0" indent="0">
              <a:spcBef>
                <a:spcPts val="2500"/>
              </a:spcBef>
              <a:buNone/>
            </a:pPr>
            <a:r>
              <a:rPr lang="en-US" sz="1400" b="1" dirty="0"/>
              <a:t>Runs daily / on-demand.</a:t>
            </a:r>
          </a:p>
        </p:txBody>
      </p:sp>
      <p:pic>
        <p:nvPicPr>
          <p:cNvPr id="13" name="Content Placeholder 12" descr="A screenshot of a computer&#10;&#10;AI-generated content may be incorrect.">
            <a:extLst>
              <a:ext uri="{FF2B5EF4-FFF2-40B4-BE49-F238E27FC236}">
                <a16:creationId xmlns:a16="http://schemas.microsoft.com/office/drawing/2014/main" id="{A34298BE-F49B-4FF8-619B-BE2995CDBDFA}"/>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4088006" y="595477"/>
            <a:ext cx="7371753" cy="3963349"/>
          </a:xfrm>
        </p:spPr>
      </p:pic>
      <p:sp>
        <p:nvSpPr>
          <p:cNvPr id="15" name="TextBox 14">
            <a:extLst>
              <a:ext uri="{FF2B5EF4-FFF2-40B4-BE49-F238E27FC236}">
                <a16:creationId xmlns:a16="http://schemas.microsoft.com/office/drawing/2014/main" id="{CD7F0684-374E-9410-12CD-DC3D0F1C0987}"/>
              </a:ext>
            </a:extLst>
          </p:cNvPr>
          <p:cNvSpPr txBox="1"/>
          <p:nvPr/>
        </p:nvSpPr>
        <p:spPr>
          <a:xfrm>
            <a:off x="5731681" y="4642073"/>
            <a:ext cx="4669619" cy="1785104"/>
          </a:xfrm>
          <a:prstGeom prst="rect">
            <a:avLst/>
          </a:prstGeom>
          <a:noFill/>
        </p:spPr>
        <p:txBody>
          <a:bodyPr wrap="square">
            <a:spAutoFit/>
          </a:bodyPr>
          <a:lstStyle/>
          <a:p>
            <a:r>
              <a:rPr lang="en-GB" sz="1000" i="1" dirty="0"/>
              <a:t>Code Snippet:</a:t>
            </a:r>
          </a:p>
          <a:p>
            <a:r>
              <a:rPr lang="en-GB" sz="1000" i="1" dirty="0"/>
              <a:t>from airflow import DAG</a:t>
            </a:r>
          </a:p>
          <a:p>
            <a:r>
              <a:rPr lang="en-GB" sz="1000" i="1" dirty="0"/>
              <a:t>from </a:t>
            </a:r>
            <a:r>
              <a:rPr lang="en-GB" sz="1000" i="1" dirty="0" err="1"/>
              <a:t>airflow.operators.python</a:t>
            </a:r>
            <a:r>
              <a:rPr lang="en-GB" sz="1000" i="1" dirty="0"/>
              <a:t> import </a:t>
            </a:r>
            <a:r>
              <a:rPr lang="en-GB" sz="1000" i="1" dirty="0" err="1"/>
              <a:t>PythonOperator</a:t>
            </a:r>
            <a:endParaRPr lang="en-GB" sz="1000" i="1" dirty="0"/>
          </a:p>
          <a:p>
            <a:endParaRPr lang="en-GB" sz="1000" i="1" dirty="0"/>
          </a:p>
          <a:p>
            <a:r>
              <a:rPr lang="en-GB" sz="1000" i="1" dirty="0"/>
              <a:t>with DAG('</a:t>
            </a:r>
            <a:r>
              <a:rPr lang="en-GB" sz="1000" i="1" dirty="0" err="1"/>
              <a:t>uber_etl_pipeline</a:t>
            </a:r>
            <a:r>
              <a:rPr lang="en-GB" sz="1000" i="1" dirty="0"/>
              <a:t>', </a:t>
            </a:r>
            <a:r>
              <a:rPr lang="en-GB" sz="1000" i="1" dirty="0" err="1"/>
              <a:t>schedule_interval</a:t>
            </a:r>
            <a:r>
              <a:rPr lang="en-GB" sz="1000" i="1" dirty="0"/>
              <a:t>='@daily') as </a:t>
            </a:r>
            <a:r>
              <a:rPr lang="en-GB" sz="1000" i="1" dirty="0" err="1"/>
              <a:t>dag</a:t>
            </a:r>
            <a:r>
              <a:rPr lang="en-GB" sz="1000" i="1" dirty="0"/>
              <a:t>:</a:t>
            </a:r>
          </a:p>
          <a:p>
            <a:r>
              <a:rPr lang="en-GB" sz="1000" i="1" dirty="0"/>
              <a:t>    </a:t>
            </a:r>
            <a:r>
              <a:rPr lang="en-GB" sz="1000" i="1" dirty="0" err="1"/>
              <a:t>extract_task</a:t>
            </a:r>
            <a:r>
              <a:rPr lang="en-GB" sz="1000" i="1" dirty="0"/>
              <a:t> = </a:t>
            </a:r>
            <a:r>
              <a:rPr lang="en-GB" sz="1000" i="1" dirty="0" err="1"/>
              <a:t>PythonOperator</a:t>
            </a:r>
            <a:r>
              <a:rPr lang="en-GB" sz="1000" i="1" dirty="0"/>
              <a:t>(</a:t>
            </a:r>
            <a:r>
              <a:rPr lang="en-GB" sz="1000" i="1" dirty="0" err="1"/>
              <a:t>task_id</a:t>
            </a:r>
            <a:r>
              <a:rPr lang="en-GB" sz="1000" i="1" dirty="0"/>
              <a:t>='extract', </a:t>
            </a:r>
            <a:r>
              <a:rPr lang="en-GB" sz="1000" i="1" dirty="0" err="1"/>
              <a:t>python_callable</a:t>
            </a:r>
            <a:r>
              <a:rPr lang="en-GB" sz="1000" i="1" dirty="0"/>
              <a:t>=extract)</a:t>
            </a:r>
          </a:p>
          <a:p>
            <a:r>
              <a:rPr lang="en-GB" sz="1000" i="1" dirty="0"/>
              <a:t>    </a:t>
            </a:r>
            <a:r>
              <a:rPr lang="en-GB" sz="1000" i="1" dirty="0" err="1"/>
              <a:t>transform_task</a:t>
            </a:r>
            <a:r>
              <a:rPr lang="en-GB" sz="1000" i="1" dirty="0"/>
              <a:t> = </a:t>
            </a:r>
            <a:r>
              <a:rPr lang="en-GB" sz="1000" i="1" dirty="0" err="1"/>
              <a:t>PythonOperator</a:t>
            </a:r>
            <a:r>
              <a:rPr lang="en-GB" sz="1000" i="1" dirty="0"/>
              <a:t>(</a:t>
            </a:r>
            <a:r>
              <a:rPr lang="en-GB" sz="1000" i="1" dirty="0" err="1"/>
              <a:t>task_id</a:t>
            </a:r>
            <a:r>
              <a:rPr lang="en-GB" sz="1000" i="1" dirty="0"/>
              <a:t>='transform', </a:t>
            </a:r>
            <a:r>
              <a:rPr lang="en-GB" sz="1000" i="1" dirty="0" err="1"/>
              <a:t>python_callable</a:t>
            </a:r>
            <a:r>
              <a:rPr lang="en-GB" sz="1000" i="1" dirty="0"/>
              <a:t>=transform)</a:t>
            </a:r>
          </a:p>
          <a:p>
            <a:r>
              <a:rPr lang="en-GB" sz="1000" i="1" dirty="0"/>
              <a:t>    </a:t>
            </a:r>
            <a:r>
              <a:rPr lang="en-GB" sz="1000" i="1" dirty="0" err="1"/>
              <a:t>load_task</a:t>
            </a:r>
            <a:r>
              <a:rPr lang="en-GB" sz="1000" i="1" dirty="0"/>
              <a:t> = </a:t>
            </a:r>
            <a:r>
              <a:rPr lang="en-GB" sz="1000" i="1" dirty="0" err="1"/>
              <a:t>PythonOperator</a:t>
            </a:r>
            <a:r>
              <a:rPr lang="en-GB" sz="1000" i="1" dirty="0"/>
              <a:t>(</a:t>
            </a:r>
            <a:r>
              <a:rPr lang="en-GB" sz="1000" i="1" dirty="0" err="1"/>
              <a:t>task_id</a:t>
            </a:r>
            <a:r>
              <a:rPr lang="en-GB" sz="1000" i="1" dirty="0"/>
              <a:t>='load', </a:t>
            </a:r>
            <a:r>
              <a:rPr lang="en-GB" sz="1000" i="1" dirty="0" err="1"/>
              <a:t>python_callable</a:t>
            </a:r>
            <a:r>
              <a:rPr lang="en-GB" sz="1000" i="1" dirty="0"/>
              <a:t>=load)</a:t>
            </a:r>
          </a:p>
          <a:p>
            <a:endParaRPr lang="en-GB" sz="1000" i="1" dirty="0"/>
          </a:p>
          <a:p>
            <a:r>
              <a:rPr lang="en-GB" sz="1000" i="1" dirty="0"/>
              <a:t>    </a:t>
            </a:r>
            <a:r>
              <a:rPr lang="en-GB" sz="1000" i="1" dirty="0" err="1"/>
              <a:t>extract_task</a:t>
            </a:r>
            <a:r>
              <a:rPr lang="en-GB" sz="1000" i="1" dirty="0"/>
              <a:t> &gt;&gt; </a:t>
            </a:r>
            <a:r>
              <a:rPr lang="en-GB" sz="1000" i="1" dirty="0" err="1"/>
              <a:t>transform_task</a:t>
            </a:r>
            <a:r>
              <a:rPr lang="en-GB" sz="1000" i="1" dirty="0"/>
              <a:t> &gt;&gt; </a:t>
            </a:r>
            <a:r>
              <a:rPr lang="en-GB" sz="1000" i="1" dirty="0" err="1"/>
              <a:t>load_task</a:t>
            </a:r>
            <a:endParaRPr lang="en-GB" sz="1000" i="1" dirty="0"/>
          </a:p>
        </p:txBody>
      </p:sp>
    </p:spTree>
    <p:extLst>
      <p:ext uri="{BB962C8B-B14F-4D97-AF65-F5344CB8AC3E}">
        <p14:creationId xmlns:p14="http://schemas.microsoft.com/office/powerpoint/2010/main" val="8869212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E7BB-F3E0-7869-9A66-5544540C688D}"/>
              </a:ext>
            </a:extLst>
          </p:cNvPr>
          <p:cNvSpPr>
            <a:spLocks noGrp="1"/>
          </p:cNvSpPr>
          <p:nvPr>
            <p:ph type="title"/>
          </p:nvPr>
        </p:nvSpPr>
        <p:spPr/>
        <p:txBody>
          <a:bodyPr/>
          <a:lstStyle/>
          <a:p>
            <a:r>
              <a:rPr lang="en-GB" dirty="0"/>
              <a:t>Load to </a:t>
            </a:r>
            <a:r>
              <a:rPr lang="en-GB" i="1" dirty="0"/>
              <a:t>Azure Synapse</a:t>
            </a:r>
            <a:endParaRPr lang="en-GB" dirty="0"/>
          </a:p>
        </p:txBody>
      </p:sp>
      <p:sp>
        <p:nvSpPr>
          <p:cNvPr id="3" name="Content Placeholder 2">
            <a:extLst>
              <a:ext uri="{FF2B5EF4-FFF2-40B4-BE49-F238E27FC236}">
                <a16:creationId xmlns:a16="http://schemas.microsoft.com/office/drawing/2014/main" id="{DCBBFFC5-6A7C-AD86-2D49-D8493C5996BD}"/>
              </a:ext>
            </a:extLst>
          </p:cNvPr>
          <p:cNvSpPr>
            <a:spLocks noGrp="1"/>
          </p:cNvSpPr>
          <p:nvPr>
            <p:ph sz="half" idx="1"/>
          </p:nvPr>
        </p:nvSpPr>
        <p:spPr/>
        <p:txBody>
          <a:bodyPr/>
          <a:lstStyle/>
          <a:p>
            <a:endParaRPr lang="en-GB"/>
          </a:p>
        </p:txBody>
      </p:sp>
      <p:sp>
        <p:nvSpPr>
          <p:cNvPr id="4" name="Content Placeholder 3">
            <a:extLst>
              <a:ext uri="{FF2B5EF4-FFF2-40B4-BE49-F238E27FC236}">
                <a16:creationId xmlns:a16="http://schemas.microsoft.com/office/drawing/2014/main" id="{CCA8ADD7-D225-49A7-8114-51993F9DC62C}"/>
              </a:ext>
            </a:extLst>
          </p:cNvPr>
          <p:cNvSpPr>
            <a:spLocks noGrp="1"/>
          </p:cNvSpPr>
          <p:nvPr>
            <p:ph sz="half" idx="2"/>
          </p:nvPr>
        </p:nvSpPr>
        <p:spPr/>
        <p:txBody>
          <a:bodyPr/>
          <a:lstStyle/>
          <a:p>
            <a:endParaRPr lang="en-GB"/>
          </a:p>
        </p:txBody>
      </p:sp>
    </p:spTree>
    <p:extLst>
      <p:ext uri="{BB962C8B-B14F-4D97-AF65-F5344CB8AC3E}">
        <p14:creationId xmlns:p14="http://schemas.microsoft.com/office/powerpoint/2010/main" val="3119517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94F1C3-50BA-081D-4E4C-3624FEED5C9F}"/>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Continuous Improvement and Future Enhancements</a:t>
            </a:r>
          </a:p>
        </p:txBody>
      </p:sp>
      <p:sp>
        <p:nvSpPr>
          <p:cNvPr id="4" name="Content Placeholder 3">
            <a:extLst>
              <a:ext uri="{FF2B5EF4-FFF2-40B4-BE49-F238E27FC236}">
                <a16:creationId xmlns:a16="http://schemas.microsoft.com/office/drawing/2014/main" id="{72A425CA-00EE-3A18-D216-C91B3E00B91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Font typeface="Arial" panose="020B0604020202020204" pitchFamily="34" charset="0"/>
              <a:buNone/>
            </a:pPr>
            <a:r>
              <a:rPr lang="en-US" sz="1400" b="1"/>
              <a:t>Pipeline Evaluation and Feedback</a:t>
            </a:r>
          </a:p>
          <a:p>
            <a:pPr marL="0" lvl="1" indent="0">
              <a:buFont typeface="Arial" panose="020B0604020202020204" pitchFamily="34" charset="0"/>
              <a:buNone/>
            </a:pPr>
            <a:r>
              <a:rPr lang="en-US" sz="1400"/>
              <a:t>Regular pipeline evaluation and feedback incorporation optimize current performance and identify improvement areas.</a:t>
            </a:r>
          </a:p>
          <a:p>
            <a:pPr marL="0" indent="0">
              <a:spcBef>
                <a:spcPts val="2500"/>
              </a:spcBef>
              <a:buFont typeface="Arial" panose="020B0604020202020204" pitchFamily="34" charset="0"/>
              <a:buNone/>
            </a:pPr>
            <a:r>
              <a:rPr lang="en-US" sz="1400" b="1"/>
              <a:t>Automation and Machine Learning</a:t>
            </a:r>
          </a:p>
          <a:p>
            <a:pPr marL="0" lvl="1" indent="0">
              <a:buFont typeface="Arial" panose="020B0604020202020204" pitchFamily="34" charset="0"/>
              <a:buNone/>
            </a:pPr>
            <a:r>
              <a:rPr lang="en-US" sz="1400"/>
              <a:t>Future enhancements focus on deeper automation and integrating machine learning to improve efficiency and intelligence.</a:t>
            </a:r>
          </a:p>
          <a:p>
            <a:pPr marL="0" indent="0">
              <a:spcBef>
                <a:spcPts val="2500"/>
              </a:spcBef>
              <a:buFont typeface="Arial" panose="020B0604020202020204" pitchFamily="34" charset="0"/>
              <a:buNone/>
            </a:pPr>
            <a:r>
              <a:rPr lang="en-US" sz="1400" b="1"/>
              <a:t>Expanded Data Source Support</a:t>
            </a:r>
          </a:p>
          <a:p>
            <a:pPr marL="0" lvl="1" indent="0">
              <a:buFont typeface="Arial" panose="020B0604020202020204" pitchFamily="34" charset="0"/>
              <a:buNone/>
            </a:pPr>
            <a:r>
              <a:rPr lang="en-US" sz="1400"/>
              <a:t>Adding support for more diverse data sources will broaden capabilities and enhance analysis.</a:t>
            </a:r>
          </a:p>
        </p:txBody>
      </p:sp>
      <p:pic>
        <p:nvPicPr>
          <p:cNvPr id="5" name="Content Placeholder 4" descr="Reading reports is the important work manager have to do">
            <a:extLst>
              <a:ext uri="{FF2B5EF4-FFF2-40B4-BE49-F238E27FC236}">
                <a16:creationId xmlns:a16="http://schemas.microsoft.com/office/drawing/2014/main" id="{D6ADF9B3-6CB8-4F1C-BF7F-7A89CAA8EEB6}"/>
              </a:ext>
            </a:extLst>
          </p:cNvPr>
          <p:cNvPicPr>
            <a:picLocks noGrp="1" noChangeAspect="1"/>
          </p:cNvPicPr>
          <p:nvPr>
            <p:ph sz="half" idx="1"/>
          </p:nvPr>
        </p:nvPicPr>
        <p:blipFill>
          <a:blip r:embed="rId3"/>
          <a:srcRect l="17395" r="35434"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20293519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F74C59-445A-9824-B537-A392A6ECE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2EB2F3-9AE6-C59C-43EE-F152977313C7}"/>
              </a:ext>
            </a:extLst>
          </p:cNvPr>
          <p:cNvSpPr>
            <a:spLocks noGrp="1"/>
          </p:cNvSpPr>
          <p:nvPr>
            <p:ph type="title"/>
          </p:nvPr>
        </p:nvSpPr>
        <p:spPr>
          <a:xfrm>
            <a:off x="612648" y="1847088"/>
            <a:ext cx="7344336" cy="1133856"/>
          </a:xfrm>
        </p:spPr>
        <p:txBody>
          <a:bodyPr anchor="b">
            <a:normAutofit/>
          </a:bodyPr>
          <a:lstStyle/>
          <a:p>
            <a:r>
              <a:rPr lang="en-GB" sz="6000"/>
              <a:t>Conclusion</a:t>
            </a:r>
          </a:p>
        </p:txBody>
      </p:sp>
      <p:graphicFrame>
        <p:nvGraphicFramePr>
          <p:cNvPr id="9" name="Content Placeholder 2">
            <a:extLst>
              <a:ext uri="{FF2B5EF4-FFF2-40B4-BE49-F238E27FC236}">
                <a16:creationId xmlns:a16="http://schemas.microsoft.com/office/drawing/2014/main" id="{EEA9BF30-E15F-4010-4BFF-B02B0D664D2A}"/>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646" y="3593592"/>
          <a:ext cx="10890504" cy="2512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9080049"/>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360</TotalTime>
  <Words>1156</Words>
  <Application>Microsoft Office PowerPoint</Application>
  <PresentationFormat>Widescreen</PresentationFormat>
  <Paragraphs>117</Paragraphs>
  <Slides>13</Slides>
  <Notes>12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Neue Haas Grotesk Text Pro</vt:lpstr>
      <vt:lpstr>Office Theme</vt:lpstr>
      <vt:lpstr>Uber Data Engineering Project: Designing and Implementing an ETL Pipeline</vt:lpstr>
      <vt:lpstr>Project Overview</vt:lpstr>
      <vt:lpstr>ETL Pipeline Architecture and Design</vt:lpstr>
      <vt:lpstr>ETL Architecture</vt:lpstr>
      <vt:lpstr>Data Warehouse Star Schema</vt:lpstr>
      <vt:lpstr>Implementation Details and Challenges</vt:lpstr>
      <vt:lpstr>PowerPoint Presentation</vt:lpstr>
      <vt:lpstr>Data Transformation, Cleaning, and Enrichment Techniques (transformation.py) </vt:lpstr>
      <vt:lpstr>Loading (loading.py)</vt:lpstr>
      <vt:lpstr>Data Workflow and Orchestration Strategies:  Airflow Orchestration (uber_dag.py)</vt:lpstr>
      <vt:lpstr>Load to Azure Synapse</vt:lpstr>
      <vt:lpstr>Continuous Improvement and Future Enhancements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Anthonia</dc:creator>
  <cp:lastModifiedBy>Anthonia</cp:lastModifiedBy>
  <cp:revision>9</cp:revision>
  <dcterms:created xsi:type="dcterms:W3CDTF">2025-08-22T16:44:47Z</dcterms:created>
  <dcterms:modified xsi:type="dcterms:W3CDTF">2025-08-22T22:47:21Z</dcterms:modified>
</cp:coreProperties>
</file>